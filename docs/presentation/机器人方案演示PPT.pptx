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-2.jpg" ContentType="image/jpg"/>
  <Override PartName="/ppt/media/image-10-1.jpg" ContentType="image/jpg"/>
  <Override PartName="/ppt/media/image-11-1.jpg" ContentType="image/jpg"/>
  <Override PartName="/ppt/media/image-11-2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0-1.jpg" ContentType="image/jpg"/>
  <Override PartName="/ppt/media/image-20-2.jpg" ContentType="image/jpg"/>
  <Override PartName="/ppt/media/image-21-1.jpg" ContentType="image/jpg"/>
  <Override PartName="/ppt/media/image-22-1.jpg" ContentType="image/jpg"/>
  <Override PartName="/ppt/media/image-22-2.jpg" ContentType="image/jpg"/>
  <Override PartName="/ppt/media/image-23-1.jpg" ContentType="image/jpg"/>
  <Override PartName="/ppt/media/image-23-2.jpg" ContentType="image/jpg"/>
  <Override PartName="/ppt/media/image-24-1.jpg" ContentType="image/jpg"/>
  <Override PartName="/ppt/media/image-24-2.jpg" ContentType="image/jpg"/>
  <Override PartName="/ppt/media/image-25-1.jpg" ContentType="image/jpg"/>
  <Override PartName="/ppt/media/image-25-2.jpg" ContentType="image/jpg"/>
  <Override PartName="/ppt/media/image-26-1.jpg" ContentType="image/jpg"/>
  <Override PartName="/ppt/media/image-4-1.jpg" ContentType="image/jpg"/>
  <Override PartName="/ppt/media/image-5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11789359" cy="6492240"/>
          </a:xfrm>
          <a:prstGeom prst="roundRect">
            <a:avLst>
              <a:gd name="adj" fmla="val 1972"/>
            </a:avLst>
          </a:prstGeom>
          <a:solidFill>
            <a:srgbClr val="FFFDF9"/>
          </a:solidFill>
          <a:ln w="28575">
            <a:solidFill>
              <a:srgbClr val="E8935B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365760" y="347472"/>
            <a:ext cx="11460175" cy="6163056"/>
          </a:xfrm>
          <a:prstGeom prst="roundRect">
            <a:avLst>
              <a:gd name="adj" fmla="val 2077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380848" y="566928"/>
            <a:ext cx="7955280" cy="1880616"/>
          </a:xfrm>
          <a:prstGeom prst="roundRect">
            <a:avLst>
              <a:gd name="adj" fmla="val 6807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6" name="Shape 3"/>
          <p:cNvSpPr/>
          <p:nvPr/>
        </p:nvSpPr>
        <p:spPr>
          <a:xfrm>
            <a:off x="8549640" y="868680"/>
            <a:ext cx="320040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dash"/>
          </a:ln>
        </p:spPr>
      </p:sp>
      <p:pic>
        <p:nvPicPr>
          <p:cNvPr id="7" name="Image 1" descr="/home/claude/imgs/image1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259590"/>
            <a:ext cx="2962656" cy="334212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098280" y="649224"/>
            <a:ext cx="2103120" cy="420624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9098280" y="64922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整机实拍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548640" y="2578608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</a:t>
            </a:r>
            <a:pPr algn="ctr" indent="0" marL="0">
              <a:buNone/>
            </a:pPr>
            <a:r>
              <a:rPr lang="en-US" sz="42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RDK X5</a:t>
            </a:r>
            <a:pPr algn="ctr" indent="0" marL="0">
              <a:buNone/>
            </a:pPr>
            <a:r>
              <a:rPr lang="en-US" sz="4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</a:t>
            </a:r>
            <a:endParaRPr lang="en-US" sz="4200" dirty="0"/>
          </a:p>
        </p:txBody>
      </p:sp>
      <p:sp>
        <p:nvSpPr>
          <p:cNvPr id="11" name="Text 7"/>
          <p:cNvSpPr/>
          <p:nvPr/>
        </p:nvSpPr>
        <p:spPr>
          <a:xfrm>
            <a:off x="548640" y="3383280"/>
            <a:ext cx="7772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输电线缆</a:t>
            </a:r>
            <a:pPr algn="ctr" indent="0" marL="0">
              <a:buNone/>
            </a:pPr>
            <a:r>
              <a:rPr lang="en-US" sz="47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智能巡检机器人</a:t>
            </a:r>
            <a:endParaRPr lang="en-US" sz="4700" dirty="0"/>
          </a:p>
        </p:txBody>
      </p:sp>
      <p:sp>
        <p:nvSpPr>
          <p:cNvPr id="12" name="Text 8"/>
          <p:cNvSpPr/>
          <p:nvPr/>
        </p:nvSpPr>
        <p:spPr>
          <a:xfrm>
            <a:off x="548640" y="43159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</a:t>
            </a:r>
            <a:pPr algn="ctr" indent="0" marL="0">
              <a:buNone/>
            </a:pPr>
            <a:r>
              <a:rPr lang="en-US" sz="15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RDK X5 · 极致易用的机器人开发平台</a:t>
            </a:r>
            <a:pPr algn="ctr" indent="0" marL="0">
              <a:buNone/>
            </a:pPr>
            <a:r>
              <a:rPr lang="en-US" sz="15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|  </a:t>
            </a:r>
            <a:pPr algn="ctr" indent="0" marL="0">
              <a:buNone/>
            </a:pPr>
            <a:r>
              <a:rPr lang="en-US" sz="15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10 TOPS BPU × ROS 2 × 双模型端侧推理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777240" y="4892040"/>
            <a:ext cx="2212848" cy="1170432"/>
          </a:xfrm>
          <a:prstGeom prst="roundRect">
            <a:avLst>
              <a:gd name="adj" fmla="val 10938"/>
            </a:avLst>
          </a:prstGeom>
          <a:solidFill>
            <a:srgbClr val="FDEBDC"/>
          </a:solidFill>
          <a:ln w="28575">
            <a:solidFill>
              <a:srgbClr val="E8935B"/>
            </a:solidFill>
            <a:prstDash val="dash"/>
          </a:ln>
        </p:spPr>
      </p:sp>
      <p:sp>
        <p:nvSpPr>
          <p:cNvPr id="14" name="Text 10"/>
          <p:cNvSpPr/>
          <p:nvPr/>
        </p:nvSpPr>
        <p:spPr>
          <a:xfrm>
            <a:off x="777240" y="498348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👁️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777240" y="5541264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感知识别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3035808" y="5285232"/>
            <a:ext cx="457200" cy="402336"/>
          </a:xfrm>
          <a:prstGeom prst="right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520440" y="4892040"/>
            <a:ext cx="2212848" cy="1170432"/>
          </a:xfrm>
          <a:prstGeom prst="roundRect">
            <a:avLst>
              <a:gd name="adj" fmla="val 10938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dash"/>
          </a:ln>
        </p:spPr>
      </p:sp>
      <p:sp>
        <p:nvSpPr>
          <p:cNvPr id="18" name="Text 14"/>
          <p:cNvSpPr/>
          <p:nvPr/>
        </p:nvSpPr>
        <p:spPr>
          <a:xfrm>
            <a:off x="3520440" y="498348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🎮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3520440" y="5541264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决策控制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5779008" y="5285232"/>
            <a:ext cx="457200" cy="402336"/>
          </a:xfrm>
          <a:prstGeom prst="rightArrow">
            <a:avLst/>
          </a:prstGeom>
          <a:solidFill>
            <a:srgbClr val="4A8BC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63640" y="4892040"/>
            <a:ext cx="2212848" cy="1170432"/>
          </a:xfrm>
          <a:prstGeom prst="roundRect">
            <a:avLst>
              <a:gd name="adj" fmla="val 10938"/>
            </a:avLst>
          </a:prstGeom>
          <a:solidFill>
            <a:srgbClr val="EAF5EA"/>
          </a:solidFill>
          <a:ln w="28575">
            <a:solidFill>
              <a:srgbClr val="8CC08C"/>
            </a:solidFill>
            <a:prstDash val="dash"/>
          </a:ln>
        </p:spPr>
      </p:sp>
      <p:sp>
        <p:nvSpPr>
          <p:cNvPr id="22" name="Text 18"/>
          <p:cNvSpPr/>
          <p:nvPr/>
        </p:nvSpPr>
        <p:spPr>
          <a:xfrm>
            <a:off x="6263640" y="498348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6263640" y="5541264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交互留档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 </a:t>
            </a:r>
            <a:pPr indent="0" marL="0">
              <a:buNone/>
            </a:pPr>
            <a:r>
              <a:rPr lang="en-US" sz="2900" b="1" dirty="0">
                <a:solidFill>
                  <a:srgbClr val="4A8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5532120" cy="2103120"/>
          </a:xfrm>
          <a:prstGeom prst="roundRect">
            <a:avLst>
              <a:gd name="adj" fmla="val 6087"/>
            </a:avLst>
          </a:prstGeom>
          <a:solidFill>
            <a:srgbClr val="FDEBDC"/>
          </a:solidFill>
          <a:ln w="28575">
            <a:solidFill>
              <a:srgbClr val="E8935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31520" y="1874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87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886968" y="2971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🌟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331720" y="185623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作品概述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331720" y="2441448"/>
            <a:ext cx="3474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功能特性 · 应用领域 · 性能指标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 · 创新点 · 设计流程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31720" y="3246120"/>
            <a:ext cx="1371600" cy="347472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31720" y="3246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 – P8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32704" y="1490472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32704" y="14767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9360" y="1600200"/>
            <a:ext cx="5532120" cy="2103120"/>
          </a:xfrm>
          <a:prstGeom prst="roundRect">
            <a:avLst>
              <a:gd name="adj" fmla="val 6087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537960" y="1874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4A8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200" dirty="0"/>
          </a:p>
        </p:txBody>
      </p:sp>
      <p:sp>
        <p:nvSpPr>
          <p:cNvPr id="19" name="Text 17"/>
          <p:cNvSpPr/>
          <p:nvPr/>
        </p:nvSpPr>
        <p:spPr>
          <a:xfrm>
            <a:off x="6693408" y="2971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🏗️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138160" y="185623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系统组成及功能说明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138160" y="2441448"/>
            <a:ext cx="3474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总体框图 · 硬件系统 · 软件系统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识别/控制/检测/看板/SLAM/BPU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38160" y="3246120"/>
            <a:ext cx="1371600" cy="347472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138160" y="3246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 – P21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439144" y="1490472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9144" y="14767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02920" y="3995928"/>
            <a:ext cx="5532120" cy="2103120"/>
          </a:xfrm>
          <a:prstGeom prst="roundRect">
            <a:avLst>
              <a:gd name="adj" fmla="val 6087"/>
            </a:avLst>
          </a:prstGeom>
          <a:solidFill>
            <a:srgbClr val="EAF5EA"/>
          </a:solidFill>
          <a:ln w="28575">
            <a:solidFill>
              <a:srgbClr val="8CC08C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731520" y="4270248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5BA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200" dirty="0"/>
          </a:p>
        </p:txBody>
      </p:sp>
      <p:sp>
        <p:nvSpPr>
          <p:cNvPr id="28" name="Text 26"/>
          <p:cNvSpPr/>
          <p:nvPr/>
        </p:nvSpPr>
        <p:spPr>
          <a:xfrm>
            <a:off x="886968" y="53675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2331720" y="42519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完成情况及性能参数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2331720" y="4837176"/>
            <a:ext cx="3474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机械成果 · 电路成果 · 软件成果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场地实测 · 调试画面 · 结果汇总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331720" y="5641848"/>
            <a:ext cx="1371600" cy="347472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331720" y="5641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P22 – P27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632704" y="3886200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32704" y="38724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09360" y="3995928"/>
            <a:ext cx="5532120" cy="2103120"/>
          </a:xfrm>
          <a:prstGeom prst="roundRect">
            <a:avLst>
              <a:gd name="adj" fmla="val 6087"/>
            </a:avLst>
          </a:prstGeom>
          <a:solidFill>
            <a:srgbClr val="F1ECF8"/>
          </a:solidFill>
          <a:ln w="28575">
            <a:solidFill>
              <a:srgbClr val="A98FCB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6537960" y="4270248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200" dirty="0"/>
          </a:p>
        </p:txBody>
      </p:sp>
      <p:sp>
        <p:nvSpPr>
          <p:cNvPr id="37" name="Text 35"/>
          <p:cNvSpPr/>
          <p:nvPr/>
        </p:nvSpPr>
        <p:spPr>
          <a:xfrm>
            <a:off x="6693408" y="53675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8138160" y="42519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8138160" y="4837176"/>
            <a:ext cx="3474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六大可扩展方向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工程心得与核心价值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138160" y="5641848"/>
            <a:ext cx="1371600" cy="347472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138160" y="5641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P28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1439144" y="3886200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439144" y="38724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🗺️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项目总览：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pPr indent="0" marL="0">
              <a:buNone/>
            </a:pPr>
            <a:r>
              <a:rPr lang="en-US" sz="2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➜ 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pPr indent="0" marL="0">
              <a:buNone/>
            </a:pPr>
            <a:r>
              <a:rPr lang="en-US" sz="2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➜ </a:t>
            </a:r>
            <a:pPr indent="0" marL="0">
              <a:buNone/>
            </a:pPr>
            <a:r>
              <a:rPr lang="en-US" sz="29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8762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概述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481328"/>
            <a:ext cx="7452360" cy="2011680"/>
          </a:xfrm>
          <a:prstGeom prst="roundRect">
            <a:avLst>
              <a:gd name="adj" fmla="val 6364"/>
            </a:avLst>
          </a:prstGeom>
          <a:solidFill>
            <a:srgbClr val="FDEBDC"/>
          </a:solidFill>
          <a:ln w="28575">
            <a:solidFill>
              <a:srgbClr val="E8935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554480" y="1280160"/>
            <a:ext cx="5120640" cy="457200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输电线缆巡检的行业痛点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800" y="1874520"/>
            <a:ext cx="219456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14" name="Text 12"/>
          <p:cNvSpPr/>
          <p:nvPr/>
        </p:nvSpPr>
        <p:spPr>
          <a:xfrm>
            <a:off x="758952" y="19385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89304" y="19385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缺陷隐患大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" y="2468880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破损 / 弯折 / 缺口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易诱发停电与火灾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624328" y="1755648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24328" y="17419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81528" y="1874520"/>
            <a:ext cx="219456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0" name="Text 18"/>
          <p:cNvSpPr/>
          <p:nvPr/>
        </p:nvSpPr>
        <p:spPr>
          <a:xfrm>
            <a:off x="3154680" y="19385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🧗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685032" y="19385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人工巡检难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09544" y="2468880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效率低 · 危险性高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高空触电风险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0056" y="1755648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0056" y="17419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77256" y="1874520"/>
            <a:ext cx="219456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6" name="Text 24"/>
          <p:cNvSpPr/>
          <p:nvPr/>
        </p:nvSpPr>
        <p:spPr>
          <a:xfrm>
            <a:off x="5550408" y="19385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080760" y="19385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记录难留存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05272" y="2468880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缺陷影像无档案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责任难以追溯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415784" y="1755648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15784" y="17419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886200" y="3529584"/>
            <a:ext cx="502920" cy="475488"/>
          </a:xfrm>
          <a:prstGeom prst="down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80560" y="36027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低成本端侧智能化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11480" y="4224528"/>
            <a:ext cx="7452360" cy="2212848"/>
          </a:xfrm>
          <a:prstGeom prst="roundRect">
            <a:avLst>
              <a:gd name="adj" fmla="val 5785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554480" y="4023360"/>
            <a:ext cx="5120640" cy="457200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5544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RDK X5 端侧智能巡检方案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58368" y="4645152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37" name="Text 35"/>
          <p:cNvSpPr/>
          <p:nvPr/>
        </p:nvSpPr>
        <p:spPr>
          <a:xfrm>
            <a:off x="658368" y="4718304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</a:rPr>
              <a:t>🧠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658368" y="523036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RDK X5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94944" y="55961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TOPS BPU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双模型 INT8 推理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304288" y="5440680"/>
            <a:ext cx="182880" cy="0"/>
          </a:xfrm>
          <a:prstGeom prst="line">
            <a:avLst/>
          </a:prstGeom>
          <a:noFill/>
          <a:ln w="31750">
            <a:solidFill>
              <a:srgbClr val="2E6DA4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487168" y="4645152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42" name="Text 40"/>
          <p:cNvSpPr/>
          <p:nvPr/>
        </p:nvSpPr>
        <p:spPr>
          <a:xfrm>
            <a:off x="2487168" y="4718304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</a:rPr>
              <a:t>🔩</a:t>
            </a:r>
            <a:endParaRPr lang="en-US" sz="2700" dirty="0"/>
          </a:p>
        </p:txBody>
      </p:sp>
      <p:sp>
        <p:nvSpPr>
          <p:cNvPr id="43" name="Text 41"/>
          <p:cNvSpPr/>
          <p:nvPr/>
        </p:nvSpPr>
        <p:spPr>
          <a:xfrm>
            <a:off x="2487168" y="523036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C30D 底盘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2523744" y="55961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STM32F407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四轮 PID 闭环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133088" y="5440680"/>
            <a:ext cx="182880" cy="0"/>
          </a:xfrm>
          <a:prstGeom prst="line">
            <a:avLst/>
          </a:prstGeom>
          <a:noFill/>
          <a:ln w="31750">
            <a:solidFill>
              <a:srgbClr val="2E6DA4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315968" y="4645152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47" name="Text 45"/>
          <p:cNvSpPr/>
          <p:nvPr/>
        </p:nvSpPr>
        <p:spPr>
          <a:xfrm>
            <a:off x="4315968" y="4718304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</a:rPr>
              <a:t>🕸️</a:t>
            </a:r>
            <a:endParaRPr lang="en-US" sz="2700" dirty="0"/>
          </a:p>
        </p:txBody>
      </p:sp>
      <p:sp>
        <p:nvSpPr>
          <p:cNvPr id="48" name="Text 46"/>
          <p:cNvSpPr/>
          <p:nvPr/>
        </p:nvSpPr>
        <p:spPr>
          <a:xfrm>
            <a:off x="4315968" y="523036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ROS 2 Humble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4352544" y="55961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个功能包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模块化解耦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961888" y="5440680"/>
            <a:ext cx="182880" cy="0"/>
          </a:xfrm>
          <a:prstGeom prst="line">
            <a:avLst/>
          </a:prstGeom>
          <a:noFill/>
          <a:ln w="31750">
            <a:solidFill>
              <a:srgbClr val="2E6DA4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6144768" y="4645152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52" name="Text 50"/>
          <p:cNvSpPr/>
          <p:nvPr/>
        </p:nvSpPr>
        <p:spPr>
          <a:xfrm>
            <a:off x="6144768" y="4718304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</a:rPr>
              <a:t>🖥️</a:t>
            </a:r>
            <a:endParaRPr lang="en-US" sz="2700" dirty="0"/>
          </a:p>
        </p:txBody>
      </p:sp>
      <p:sp>
        <p:nvSpPr>
          <p:cNvPr id="53" name="Text 51"/>
          <p:cNvSpPr/>
          <p:nvPr/>
        </p:nvSpPr>
        <p:spPr>
          <a:xfrm>
            <a:off x="6144768" y="523036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看板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6181344" y="55961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浏览器零安装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一键启停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7918704" y="5120640"/>
            <a:ext cx="566928" cy="502920"/>
          </a:xfrm>
          <a:prstGeom prst="rightArrow">
            <a:avLst/>
          </a:prstGeom>
          <a:solidFill>
            <a:srgbClr val="4A8BC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595360" y="1481328"/>
            <a:ext cx="3200400" cy="4956048"/>
          </a:xfrm>
          <a:prstGeom prst="roundRect">
            <a:avLst>
              <a:gd name="adj" fmla="val 4000"/>
            </a:avLst>
          </a:prstGeom>
          <a:solidFill>
            <a:srgbClr val="EAF5EA"/>
          </a:solidFill>
          <a:ln w="28575">
            <a:solidFill>
              <a:srgbClr val="8CC08C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8869680" y="1280160"/>
            <a:ext cx="2651760" cy="457200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869680" y="1280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实测成果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8796528" y="1938528"/>
            <a:ext cx="2798064" cy="1353312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60" name="Text 58"/>
          <p:cNvSpPr/>
          <p:nvPr/>
        </p:nvSpPr>
        <p:spPr>
          <a:xfrm>
            <a:off x="8887968" y="2011680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61" name="Text 59"/>
          <p:cNvSpPr/>
          <p:nvPr/>
        </p:nvSpPr>
        <p:spPr>
          <a:xfrm>
            <a:off x="9418320" y="2011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稳定循线</a:t>
            </a:r>
            <a:endParaRPr lang="en-US" sz="1700" dirty="0"/>
          </a:p>
        </p:txBody>
      </p:sp>
      <p:sp>
        <p:nvSpPr>
          <p:cNvPr id="62" name="Text 60"/>
          <p:cNvSpPr/>
          <p:nvPr/>
        </p:nvSpPr>
        <p:spPr>
          <a:xfrm>
            <a:off x="8979408" y="254203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沿线自主行驶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弯折连续修正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11265408" y="1828800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265408" y="18150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8796528" y="3456432"/>
            <a:ext cx="2798064" cy="1353312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66" name="Text 64"/>
          <p:cNvSpPr/>
          <p:nvPr/>
        </p:nvSpPr>
        <p:spPr>
          <a:xfrm>
            <a:off x="8887968" y="3529584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67" name="Text 65"/>
          <p:cNvSpPr/>
          <p:nvPr/>
        </p:nvSpPr>
        <p:spPr>
          <a:xfrm>
            <a:off x="9418320" y="352958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精准告警</a:t>
            </a:r>
            <a:endParaRPr lang="en-US" sz="1700" dirty="0"/>
          </a:p>
        </p:txBody>
      </p:sp>
      <p:sp>
        <p:nvSpPr>
          <p:cNvPr id="68" name="Text 66"/>
          <p:cNvSpPr/>
          <p:nvPr/>
        </p:nvSpPr>
        <p:spPr>
          <a:xfrm>
            <a:off x="8979408" y="405993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break 报警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有效抑制误报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11265408" y="3346704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265408" y="33329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8796528" y="4974336"/>
            <a:ext cx="2798064" cy="1353312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72" name="Text 70"/>
          <p:cNvSpPr/>
          <p:nvPr/>
        </p:nvSpPr>
        <p:spPr>
          <a:xfrm>
            <a:off x="8887968" y="5047488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🗃️</a:t>
            </a:r>
            <a:endParaRPr lang="en-US" sz="2600" dirty="0"/>
          </a:p>
        </p:txBody>
      </p:sp>
      <p:sp>
        <p:nvSpPr>
          <p:cNvPr id="73" name="Text 71"/>
          <p:cNvSpPr/>
          <p:nvPr/>
        </p:nvSpPr>
        <p:spPr>
          <a:xfrm>
            <a:off x="9418320" y="50474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全程留档</a:t>
            </a:r>
            <a:endParaRPr lang="en-US" sz="1700" dirty="0"/>
          </a:p>
        </p:txBody>
      </p:sp>
      <p:sp>
        <p:nvSpPr>
          <p:cNvPr id="74" name="Text 72"/>
          <p:cNvSpPr/>
          <p:nvPr/>
        </p:nvSpPr>
        <p:spPr>
          <a:xfrm>
            <a:off x="8979408" y="55778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图像·位姿·损伤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任务完整可复现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11265408" y="4864608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1265408" y="48508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七项核心功能：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循线 + 检测 + 留档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一体化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4A8BC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8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1.1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481328"/>
            <a:ext cx="7589520" cy="3520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dash"/>
          </a:ln>
        </p:spPr>
      </p:sp>
      <p:pic>
        <p:nvPicPr>
          <p:cNvPr id="11" name="Image 0" descr="/home/claude/imgs/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722465"/>
            <a:ext cx="7351776" cy="313875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747772" y="1261872"/>
            <a:ext cx="3008376" cy="420624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747772" y="1261872"/>
            <a:ext cx="3008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1-1  七项核心功能图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321040" y="1481328"/>
            <a:ext cx="3456432" cy="3520440"/>
          </a:xfrm>
          <a:prstGeom prst="roundRect">
            <a:avLst>
              <a:gd name="adj" fmla="val 3704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732520" y="1280160"/>
            <a:ext cx="2651760" cy="420624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732520" y="128016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功能速览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558784" y="181051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🛤️  </a:t>
            </a:r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45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自主沿线巡检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558784" y="225399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 </a:t>
            </a:r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4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缺陷识别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558784" y="269748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📢  </a:t>
            </a:r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4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语音告警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558784" y="314096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🚧  </a:t>
            </a:r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遇障处置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558784" y="358444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🖥️  </a:t>
            </a:r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4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远程监控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558784" y="402793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🗺️  </a:t>
            </a:r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4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同步建图定位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558784" y="447141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💾  </a:t>
            </a:r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450" b="1" dirty="0">
                <a:solidFill>
                  <a:srgbClr val="C995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数据留存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57200" y="5285232"/>
            <a:ext cx="274320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5" name="Text 22"/>
          <p:cNvSpPr/>
          <p:nvPr/>
        </p:nvSpPr>
        <p:spPr>
          <a:xfrm>
            <a:off x="512064" y="5285232"/>
            <a:ext cx="475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🎬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1005840" y="528523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首帧见线即可启动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免预建图 · 免磁条铺设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3346704" y="5285232"/>
            <a:ext cx="274320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8" name="Text 25"/>
          <p:cNvSpPr/>
          <p:nvPr/>
        </p:nvSpPr>
        <p:spPr>
          <a:xfrm>
            <a:off x="3401568" y="5285232"/>
            <a:ext cx="475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🧠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3895344" y="528523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BPU 端侧双模型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分割巡线 ⊕ YOLOv8n 检测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236208" y="5285232"/>
            <a:ext cx="274320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31" name="Text 28"/>
          <p:cNvSpPr/>
          <p:nvPr/>
        </p:nvSpPr>
        <p:spPr>
          <a:xfrm>
            <a:off x="6291072" y="5285232"/>
            <a:ext cx="475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🔄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6784848" y="528523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检测→告警→记录闭环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s 冷却去抖动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9125712" y="5285232"/>
            <a:ext cx="274320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34" name="Text 31"/>
          <p:cNvSpPr/>
          <p:nvPr/>
        </p:nvSpPr>
        <p:spPr>
          <a:xfrm>
            <a:off x="9180576" y="5285232"/>
            <a:ext cx="475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📡</a:t>
            </a:r>
            <a:endParaRPr lang="en-US" sz="2100" dirty="0"/>
          </a:p>
        </p:txBody>
      </p:sp>
      <p:sp>
        <p:nvSpPr>
          <p:cNvPr id="35" name="Text 32"/>
          <p:cNvSpPr/>
          <p:nvPr/>
        </p:nvSpPr>
        <p:spPr>
          <a:xfrm>
            <a:off x="9674352" y="528523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巡检建图两不误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 Nav2 定点导航接口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3209544" y="5760720"/>
            <a:ext cx="128016" cy="0"/>
          </a:xfrm>
          <a:prstGeom prst="line">
            <a:avLst/>
          </a:prstGeom>
          <a:noFill/>
          <a:ln w="28575">
            <a:solidFill>
              <a:srgbClr val="666666"/>
            </a:solidFill>
            <a:prstDash val="dash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6099048" y="5760720"/>
            <a:ext cx="128016" cy="0"/>
          </a:xfrm>
          <a:prstGeom prst="line">
            <a:avLst/>
          </a:prstGeom>
          <a:noFill/>
          <a:ln w="28575">
            <a:solidFill>
              <a:srgbClr val="666666"/>
            </a:solidFill>
            <a:prstDash val="dash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8988552" y="5760720"/>
            <a:ext cx="128016" cy="0"/>
          </a:xfrm>
          <a:prstGeom prst="line">
            <a:avLst/>
          </a:prstGeom>
          <a:noFill/>
          <a:ln w="28575">
            <a:solidFill>
              <a:srgbClr val="666666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应用领域：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一套平台</a:t>
            </a:r>
            <a:pPr indent="0" marL="0">
              <a:buNone/>
            </a:pPr>
            <a:r>
              <a:rPr lang="en-US" sz="29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，多场景落地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5BA85B"/>
            </a:solidFill>
            <a:prstDash val="dash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A8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1.2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17904"/>
            <a:ext cx="676656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dash"/>
          </a:ln>
        </p:spPr>
        <p:txBody>
          <a:bodyPr/>
          <a:p/>
        </p:txBody>
      </p:sp>
      <p:pic>
        <p:nvPicPr>
          <p:cNvPr id="11" name="Image 0" descr="/home/claude/imgs/image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741932"/>
            <a:ext cx="6236208" cy="34015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251710" y="1298448"/>
            <a:ext cx="3177540" cy="420624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251710" y="1298448"/>
            <a:ext cx="31775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1-2  应用场景及价值图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498080" y="1517904"/>
            <a:ext cx="4279392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589520" y="160934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183880" y="159105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电力行业</a:t>
            </a:r>
            <a:endParaRPr lang="en-US" sz="15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变电站/输电走廊/电缆沟巡检，替代人工排查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11430000" y="1426464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1430000" y="14127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498080" y="2487168"/>
            <a:ext cx="4279392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589520" y="257860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🏗️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8183880" y="256032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市政与工业</a:t>
            </a:r>
            <a:endParaRPr lang="en-US" sz="15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管廊/隧道/桥架沿线巡航，覆盖式检查留档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11430000" y="2395728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1430000" y="23820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498080" y="3456432"/>
            <a:ext cx="4279392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7589520" y="354787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8183880" y="3529584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教育科研</a:t>
            </a:r>
            <a:endParaRPr lang="en-US" sz="15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全链条教学平台，源码全可复现</a:t>
            </a:r>
            <a:endParaRPr lang="en-US" sz="1550" dirty="0"/>
          </a:p>
        </p:txBody>
      </p:sp>
      <p:sp>
        <p:nvSpPr>
          <p:cNvPr id="27" name="Shape 24"/>
          <p:cNvSpPr/>
          <p:nvPr/>
        </p:nvSpPr>
        <p:spPr>
          <a:xfrm>
            <a:off x="11430000" y="3364992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1430000" y="33512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498080" y="4425696"/>
            <a:ext cx="4279392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7589520" y="451713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🚜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183880" y="449884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延伸场景</a:t>
            </a:r>
            <a:endParaRPr lang="en-US" sz="15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轨道/仓储/农业/消防，换模型即迁移</a:t>
            </a:r>
            <a:endParaRPr lang="en-US" sz="1550" dirty="0"/>
          </a:p>
        </p:txBody>
      </p:sp>
      <p:sp>
        <p:nvSpPr>
          <p:cNvPr id="32" name="Shape 29"/>
          <p:cNvSpPr/>
          <p:nvPr/>
        </p:nvSpPr>
        <p:spPr>
          <a:xfrm>
            <a:off x="11430000" y="4334256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1430000" y="43205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57200" y="5486400"/>
            <a:ext cx="11320272" cy="868680"/>
          </a:xfrm>
          <a:prstGeom prst="roundRect">
            <a:avLst>
              <a:gd name="adj" fmla="val 14737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dash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731520" y="5486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共同特征：</a:t>
            </a:r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沿既定线路的高频重复检查 </a:t>
            </a:r>
            <a:pPr indent="0" marL="0">
              <a:buNone/>
            </a:pPr>
            <a:r>
              <a:rPr lang="en-US" sz="21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➜ </a:t>
            </a:r>
            <a:pPr indent="0" marL="0">
              <a:buNone/>
            </a:pPr>
            <a:r>
              <a:rPr lang="en-US" sz="18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与「循线+检测+留档」能力模型高度契合，落地改造量小 ✨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0E8A7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主要性能指标：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 · 感知 · 通信 · 交互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四维覆盖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0E8A7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1.4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11320272" cy="3977640"/>
          </a:xfrm>
          <a:prstGeom prst="roundRect">
            <a:avLst>
              <a:gd name="adj" fmla="val 3218"/>
            </a:avLst>
          </a:prstGeom>
          <a:solidFill>
            <a:srgbClr val="E4F4F2"/>
          </a:solidFill>
          <a:ln w="28575">
            <a:solidFill>
              <a:srgbClr val="6FBFB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297680" y="1389888"/>
            <a:ext cx="3657600" cy="457200"/>
          </a:xfrm>
          <a:prstGeom prst="roundRect">
            <a:avLst>
              <a:gd name="adj" fmla="val 45455"/>
            </a:avLst>
          </a:prstGeom>
          <a:solidFill>
            <a:srgbClr val="0E8A7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0" y="13898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表 1-1  主要性能指标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75104"/>
          <a:ext cx="106984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331720"/>
                <a:gridCol w="3017520"/>
                <a:gridCol w="2331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🎮 控制维度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👁️ 感知维度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7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巡线控制频率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 Hz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75B1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模型输入规格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640×640 · NV12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额定 / 最大巡线速度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0.030 / 0.050 m/s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75B1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线检测置信度阈值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最大角速度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0.18 rad/s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75B1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路径质量门限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短时 / 长时丢线分界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 s / 0.70 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75B1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缺陷置信度 / NMS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 / 0.50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🔗 通信维度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🌐 交互维度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7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B5EA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底盘通信速率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115200 bps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D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语音告警冷却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3.0 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B5EA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摄像头采集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640×480 @30 fps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D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看板服务端口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HTTP 8080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B5EA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供电电压范围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6–16 V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D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BPU 算力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TOPS（Bayes-e）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5742432"/>
            <a:ext cx="27432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15" name="Text 12"/>
          <p:cNvSpPr/>
          <p:nvPr/>
        </p:nvSpPr>
        <p:spPr>
          <a:xfrm>
            <a:off x="457200" y="57424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Hz  </a:t>
            </a:r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闭环控制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3346704" y="5742432"/>
            <a:ext cx="27432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17" name="Text 14"/>
          <p:cNvSpPr/>
          <p:nvPr/>
        </p:nvSpPr>
        <p:spPr>
          <a:xfrm>
            <a:off x="3346704" y="57424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7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TOPS  </a:t>
            </a:r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端侧算力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6236208" y="5742432"/>
            <a:ext cx="27432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19" name="Text 16"/>
          <p:cNvSpPr/>
          <p:nvPr/>
        </p:nvSpPr>
        <p:spPr>
          <a:xfrm>
            <a:off x="6236208" y="57424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8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 s  </a:t>
            </a:r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链路超时保护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9125712" y="5742432"/>
            <a:ext cx="274320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1" name="Text 18"/>
          <p:cNvSpPr/>
          <p:nvPr/>
        </p:nvSpPr>
        <p:spPr>
          <a:xfrm>
            <a:off x="9125712" y="57424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D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8080  </a:t>
            </a:r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看板即开即用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</a:t>
            </a:r>
            <a:pPr indent="0" marL="0">
              <a:buNone/>
            </a:pPr>
            <a:r>
              <a:rPr lang="en-US" sz="2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× </a:t>
            </a:r>
            <a:pPr indent="0" marL="0">
              <a:buNone/>
            </a:pPr>
            <a:r>
              <a:rPr lang="en-US" sz="29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主要创新点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7B5EA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1.3/1.5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600200"/>
            <a:ext cx="5577840" cy="4663440"/>
          </a:xfrm>
          <a:prstGeom prst="roundRect">
            <a:avLst>
              <a:gd name="adj" fmla="val 2745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417320" y="1389888"/>
            <a:ext cx="3566160" cy="457200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17320" y="13898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五大技术特点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" y="1993392"/>
            <a:ext cx="5157216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14" name="Text 12"/>
          <p:cNvSpPr/>
          <p:nvPr/>
        </p:nvSpPr>
        <p:spPr>
          <a:xfrm>
            <a:off x="694944" y="20756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25296" y="203911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异构双板架构  </a:t>
            </a:r>
            <a:endParaRPr lang="en-US" sz="15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RDK X5 感知决策 + C30D 硬实时控制，算力实时兼顾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504688" y="1901952"/>
            <a:ext cx="256032" cy="2560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04688" y="18882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" y="2816352"/>
            <a:ext cx="5157216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19" name="Text 17"/>
          <p:cNvSpPr/>
          <p:nvPr/>
        </p:nvSpPr>
        <p:spPr>
          <a:xfrm>
            <a:off x="694944" y="28986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25296" y="286207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 INT8 量化  </a:t>
            </a:r>
            <a:endParaRPr lang="en-US" sz="15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hb_mapper 编译 Bayes-e 模型，零拷贝推理双重校验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504688" y="2724912"/>
            <a:ext cx="256032" cy="2560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04688" y="27111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" y="3639312"/>
            <a:ext cx="5157216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4" name="Text 22"/>
          <p:cNvSpPr/>
          <p:nvPr/>
        </p:nvSpPr>
        <p:spPr>
          <a:xfrm>
            <a:off x="694944" y="372160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25296" y="36850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免标定跟踪  </a:t>
            </a:r>
            <a:endParaRPr lang="en-US" sz="15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图像空间三带采样线缆中心，省去 BEV 逆透视标定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5504688" y="3547872"/>
            <a:ext cx="256032" cy="2560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04688" y="35341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" y="4462272"/>
            <a:ext cx="5157216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9" name="Text 27"/>
          <p:cNvSpPr/>
          <p:nvPr/>
        </p:nvSpPr>
        <p:spPr>
          <a:xfrm>
            <a:off x="694944" y="45445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225296" y="45079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分层安全控制  </a:t>
            </a:r>
            <a:endParaRPr lang="en-US" sz="15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五状态状态机 + 冲突仲裁 PD + 非对称转向增益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5504688" y="4370832"/>
            <a:ext cx="256032" cy="2560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4688" y="43571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" y="5285232"/>
            <a:ext cx="5157216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34" name="Text 32"/>
          <p:cNvSpPr/>
          <p:nvPr/>
        </p:nvSpPr>
        <p:spPr>
          <a:xfrm>
            <a:off x="694944" y="53675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225296" y="53309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全栈模块化  </a:t>
            </a:r>
            <a:endParaRPr lang="en-US" sz="15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 ROS 2 功能包按层解耦，任一模块可独立替换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5504688" y="5193792"/>
            <a:ext cx="256032" cy="2560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04688" y="51800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53328" y="3657600"/>
            <a:ext cx="566928" cy="548640"/>
          </a:xfrm>
          <a:prstGeom prst="rightArrow">
            <a:avLst/>
          </a:prstGeom>
          <a:solidFill>
            <a:srgbClr val="7B5EA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035040" y="331012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凝练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693408" y="1600200"/>
            <a:ext cx="5084064" cy="4663440"/>
          </a:xfrm>
          <a:prstGeom prst="roundRect">
            <a:avLst>
              <a:gd name="adj" fmla="val 2745"/>
            </a:avLst>
          </a:prstGeom>
          <a:solidFill>
            <a:srgbClr val="F1ECF8"/>
          </a:solidFill>
          <a:ln w="28575">
            <a:solidFill>
              <a:srgbClr val="A98FCB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7589520" y="1389888"/>
            <a:ext cx="3291840" cy="457200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589520" y="13898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五大创新点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903720" y="1993392"/>
            <a:ext cx="466344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44" name="Text 42"/>
          <p:cNvSpPr/>
          <p:nvPr/>
        </p:nvSpPr>
        <p:spPr>
          <a:xfrm>
            <a:off x="6967728" y="204825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7443216" y="204825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 BEV 标定「三带跟踪」：分割掩码直取近/中/远带中心，零标定抗抖动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903720" y="2816352"/>
            <a:ext cx="466344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47" name="Text 45"/>
          <p:cNvSpPr/>
          <p:nvPr/>
        </p:nvSpPr>
        <p:spPr>
          <a:xfrm>
            <a:off x="6967728" y="287121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7443216" y="287121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五状态安全状态机：短时丢线记忆转向自恢复，长时丢线即刻停车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903720" y="3639312"/>
            <a:ext cx="466344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50" name="Text 48"/>
          <p:cNvSpPr/>
          <p:nvPr/>
        </p:nvSpPr>
        <p:spPr>
          <a:xfrm>
            <a:off x="6967728" y="369417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7443216" y="369417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双模型 BPU 部署全流程：训练→ONNX→量化→校验，端侧并行推理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903720" y="4462272"/>
            <a:ext cx="466344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53" name="Text 51"/>
          <p:cNvSpPr/>
          <p:nvPr/>
        </p:nvSpPr>
        <p:spPr>
          <a:xfrm>
            <a:off x="6967728" y="451713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7443216" y="451713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「检测—告警—记录」闭环：仅 break 报警的类别过滤显著抑制误报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6903720" y="5285232"/>
            <a:ext cx="466344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56" name="Text 54"/>
          <p:cNvSpPr/>
          <p:nvPr/>
        </p:nvSpPr>
        <p:spPr>
          <a:xfrm>
            <a:off x="6967728" y="534009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7443216" y="534009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零安装 Web 看板：浏览器内完成监控与整机一键启停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设计流程：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八步迭代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参数可回溯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8762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1.6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690372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dash"/>
          </a:ln>
        </p:spPr>
      </p:sp>
      <p:pic>
        <p:nvPicPr>
          <p:cNvPr id="11" name="Image 0" descr="/home/claude/imgs/image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136" y="1760220"/>
            <a:ext cx="6403848" cy="34930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404872" y="1316736"/>
            <a:ext cx="3008376" cy="420624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404872" y="1316736"/>
            <a:ext cx="3008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1-4  开发工程流程图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635240" y="1536192"/>
            <a:ext cx="4160520" cy="3840480"/>
          </a:xfrm>
          <a:prstGeom prst="roundRect">
            <a:avLst>
              <a:gd name="adj" fmla="val 3333"/>
            </a:avLst>
          </a:prstGeom>
          <a:solidFill>
            <a:srgbClr val="FDEBDC"/>
          </a:solidFill>
          <a:ln w="28575">
            <a:solidFill>
              <a:srgbClr val="E8935B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412480" y="1335024"/>
            <a:ext cx="2606040" cy="420624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412480" y="133502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🛠️ 八步迭代流程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863840" y="1883664"/>
            <a:ext cx="175564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18" name="Shape 15"/>
          <p:cNvSpPr/>
          <p:nvPr/>
        </p:nvSpPr>
        <p:spPr>
          <a:xfrm>
            <a:off x="7918704" y="2066544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18704" y="20528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29600" y="1920240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9637776" y="2212848"/>
            <a:ext cx="146304" cy="0"/>
          </a:xfrm>
          <a:prstGeom prst="line">
            <a:avLst/>
          </a:prstGeom>
          <a:noFill/>
          <a:ln w="25400">
            <a:solidFill>
              <a:srgbClr val="C75B14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9802368" y="1883664"/>
            <a:ext cx="175564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3" name="Shape 20"/>
          <p:cNvSpPr/>
          <p:nvPr/>
        </p:nvSpPr>
        <p:spPr>
          <a:xfrm>
            <a:off x="9857232" y="2066544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57232" y="20528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168128" y="1920240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总体方案设计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10552176" y="2555748"/>
            <a:ext cx="256032" cy="201168"/>
          </a:xfrm>
          <a:prstGeom prst="down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863840" y="2779776"/>
            <a:ext cx="175564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8" name="Shape 25"/>
          <p:cNvSpPr/>
          <p:nvPr/>
        </p:nvSpPr>
        <p:spPr>
          <a:xfrm>
            <a:off x="7918704" y="2962656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18704" y="29489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229600" y="2816352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硬件选型搭建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9637776" y="3108960"/>
            <a:ext cx="146304" cy="0"/>
          </a:xfrm>
          <a:prstGeom prst="line">
            <a:avLst/>
          </a:prstGeom>
          <a:noFill/>
          <a:ln w="25400">
            <a:solidFill>
              <a:srgbClr val="C75B14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9802368" y="2779776"/>
            <a:ext cx="175564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33" name="Shape 30"/>
          <p:cNvSpPr/>
          <p:nvPr/>
        </p:nvSpPr>
        <p:spPr>
          <a:xfrm>
            <a:off x="9857232" y="2962656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57232" y="29489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0168128" y="2816352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数据采集与模型训练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10552176" y="3451860"/>
            <a:ext cx="256032" cy="201168"/>
          </a:xfrm>
          <a:prstGeom prst="down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863840" y="3675888"/>
            <a:ext cx="175564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38" name="Shape 35"/>
          <p:cNvSpPr/>
          <p:nvPr/>
        </p:nvSpPr>
        <p:spPr>
          <a:xfrm>
            <a:off x="7918704" y="3858768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918704" y="38450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229600" y="3712464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BPU 量化部署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9637776" y="4005072"/>
            <a:ext cx="146304" cy="0"/>
          </a:xfrm>
          <a:prstGeom prst="line">
            <a:avLst/>
          </a:prstGeom>
          <a:noFill/>
          <a:ln w="25400">
            <a:solidFill>
              <a:srgbClr val="C75B14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9802368" y="3675888"/>
            <a:ext cx="175564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43" name="Shape 40"/>
          <p:cNvSpPr/>
          <p:nvPr/>
        </p:nvSpPr>
        <p:spPr>
          <a:xfrm>
            <a:off x="9857232" y="3858768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857232" y="38450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0168128" y="3712464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ROS 2 节点开发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10552176" y="4347972"/>
            <a:ext cx="256032" cy="201168"/>
          </a:xfrm>
          <a:prstGeom prst="down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7863840" y="4572000"/>
            <a:ext cx="175564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48" name="Shape 45"/>
          <p:cNvSpPr/>
          <p:nvPr/>
        </p:nvSpPr>
        <p:spPr>
          <a:xfrm>
            <a:off x="7918704" y="4754880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918704" y="47411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8229600" y="4608576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系统联调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9637776" y="4901184"/>
            <a:ext cx="146304" cy="0"/>
          </a:xfrm>
          <a:prstGeom prst="line">
            <a:avLst/>
          </a:prstGeom>
          <a:noFill/>
          <a:ln w="25400">
            <a:solidFill>
              <a:srgbClr val="C75B14"/>
            </a:solidFill>
            <a:prstDash val="solid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9802368" y="4572000"/>
            <a:ext cx="175564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53" name="Shape 50"/>
          <p:cNvSpPr/>
          <p:nvPr/>
        </p:nvSpPr>
        <p:spPr>
          <a:xfrm>
            <a:off x="9857232" y="4754880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857232" y="47411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10168128" y="4608576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场地测试与参数优化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457200" y="5541264"/>
            <a:ext cx="11320272" cy="896112"/>
          </a:xfrm>
          <a:prstGeom prst="roundRect">
            <a:avLst>
              <a:gd name="adj" fmla="val 14286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dash"/>
          </a:ln>
        </p:spPr>
      </p:sp>
      <p:sp>
        <p:nvSpPr>
          <p:cNvPr id="57" name="Text 54"/>
          <p:cNvSpPr/>
          <p:nvPr/>
        </p:nvSpPr>
        <p:spPr>
          <a:xfrm>
            <a:off x="731520" y="5541264"/>
            <a:ext cx="10881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🧪 控制器三版演进：</a:t>
            </a:r>
            <a:pPr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</a:t>
            </a:r>
            <a:pPr indent="0" marL="0">
              <a:buNone/>
            </a:pPr>
            <a:r>
              <a:rPr lang="en-US" sz="18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➜ </a:t>
            </a:r>
            <a:pPr indent="0" marL="0">
              <a:buNone/>
            </a:pPr>
            <a:r>
              <a:rPr lang="en-US" sz="180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</a:t>
            </a:r>
            <a:pPr indent="0" marL="0">
              <a:buNone/>
            </a:pPr>
            <a:r>
              <a:rPr lang="en-US" sz="18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➜ </a:t>
            </a:r>
            <a:pPr indent="0" marL="0">
              <a:buNone/>
            </a:pPr>
            <a:r>
              <a:rPr lang="en-US" sz="20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　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全部参数沉淀为带注释的可复现配置文件，经 /line_detection/debug_image 逐轮标定 📝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🏗️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系统总体框图：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四层架构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纵向贯通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4A8BC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8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7863840" cy="466344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dash"/>
          </a:ln>
        </p:spPr>
      </p:sp>
      <p:pic>
        <p:nvPicPr>
          <p:cNvPr id="11" name="Image 0" descr="/home/claude/imgs/image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09417"/>
            <a:ext cx="7626096" cy="429072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969514" y="1353312"/>
            <a:ext cx="2839212" cy="420624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969514" y="1353312"/>
            <a:ext cx="28392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2-1  系统总体框图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549640" y="1572768"/>
            <a:ext cx="3246120" cy="896112"/>
          </a:xfrm>
          <a:prstGeom prst="roundRect">
            <a:avLst>
              <a:gd name="adj" fmla="val 14286"/>
            </a:avLst>
          </a:prstGeom>
          <a:solidFill>
            <a:srgbClr val="EAF5EA"/>
          </a:solidFill>
          <a:ln w="28575">
            <a:solidFill>
              <a:srgbClr val="8CC08C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8686800" y="1627632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</a:t>
            </a:r>
            <a:pPr indent="0" marL="0">
              <a:buNone/>
            </a:pPr>
            <a:r>
              <a:rPr lang="en-US" sz="15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交互层</a:t>
            </a:r>
            <a:endParaRPr lang="en-US" sz="18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看板 · RViz2 · 语音模块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058400" y="2478024"/>
            <a:ext cx="292608" cy="164592"/>
          </a:xfrm>
          <a:prstGeom prst="downArrow">
            <a:avLst/>
          </a:prstGeom>
          <a:solidFill>
            <a:srgbClr val="99999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549640" y="2624328"/>
            <a:ext cx="3246120" cy="896112"/>
          </a:xfrm>
          <a:prstGeom prst="roundRect">
            <a:avLst>
              <a:gd name="adj" fmla="val 14286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8686800" y="2679192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</a:t>
            </a:r>
            <a:pPr indent="0" marL="0">
              <a:buNone/>
            </a:pPr>
            <a:r>
              <a:rPr lang="en-US" sz="15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决策与计算层</a:t>
            </a:r>
            <a:endParaRPr lang="en-US" sz="18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RDK X5：BPU 推理 · 状态机 · SLAM · EKF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0058400" y="3529584"/>
            <a:ext cx="292608" cy="164592"/>
          </a:xfrm>
          <a:prstGeom prst="downArrow">
            <a:avLst/>
          </a:prstGeom>
          <a:solidFill>
            <a:srgbClr val="99999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549640" y="3675888"/>
            <a:ext cx="3246120" cy="896112"/>
          </a:xfrm>
          <a:prstGeom prst="roundRect">
            <a:avLst>
              <a:gd name="adj" fmla="val 14286"/>
            </a:avLst>
          </a:prstGeom>
          <a:solidFill>
            <a:srgbClr val="FDEBDC"/>
          </a:solidFill>
          <a:ln w="28575">
            <a:solidFill>
              <a:srgbClr val="E8935B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8686800" y="3730752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🔩 </a:t>
            </a:r>
            <a:pPr indent="0" marL="0">
              <a:buNone/>
            </a:pPr>
            <a:r>
              <a:rPr lang="en-US" sz="15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运动控制层</a:t>
            </a:r>
            <a:endParaRPr lang="en-US" sz="18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C30D：四轮 PID · 里程计 · 电源管理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0058400" y="4581144"/>
            <a:ext cx="292608" cy="164592"/>
          </a:xfrm>
          <a:prstGeom prst="downArrow">
            <a:avLst/>
          </a:prstGeom>
          <a:solidFill>
            <a:srgbClr val="99999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549640" y="4727448"/>
            <a:ext cx="3246120" cy="896112"/>
          </a:xfrm>
          <a:prstGeom prst="roundRect">
            <a:avLst>
              <a:gd name="adj" fmla="val 14286"/>
            </a:avLst>
          </a:prstGeom>
          <a:solidFill>
            <a:srgbClr val="FBE9E7"/>
          </a:solidFill>
          <a:ln w="28575">
            <a:solidFill>
              <a:srgbClr val="D98880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8686800" y="4782312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🦾 </a:t>
            </a:r>
            <a:pPr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执行与感知层</a:t>
            </a:r>
            <a:endParaRPr lang="en-US" sz="18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电机编码器 · 摄像头 · 雷达 · 电池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549640" y="5852160"/>
            <a:ext cx="3246120" cy="566928"/>
          </a:xfrm>
          <a:prstGeom prst="roundRect">
            <a:avLst>
              <a:gd name="adj" fmla="val 22581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6" name="Text 23"/>
          <p:cNvSpPr/>
          <p:nvPr/>
        </p:nvSpPr>
        <p:spPr>
          <a:xfrm>
            <a:off x="8641080" y="58521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🔁 </a:t>
            </a:r>
            <a:pPr algn="ctr" indent="0" marL="0">
              <a:buNone/>
            </a:pPr>
            <a:r>
              <a:rPr lang="en-US" sz="11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上行数据 ⊕ 下行 /cmd_vel 构成完整闭环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硬件整体：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树莓派同规格板位</a:t>
            </a:r>
            <a:pPr indent="0" marL="0">
              <a:buNone/>
            </a:pPr>
            <a:r>
              <a:rPr lang="en-US" sz="29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即插即用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8762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3749040" cy="379476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dash"/>
          </a:ln>
        </p:spPr>
      </p:sp>
      <p:pic>
        <p:nvPicPr>
          <p:cNvPr id="11" name="Image 0" descr="/home/claude/imgs/image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1869948"/>
            <a:ext cx="3447288" cy="344728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7240" y="1426464"/>
            <a:ext cx="3108960" cy="420624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142646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2-2  树莓派规格上位机板位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02920" y="55321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</a:t>
            </a:r>
            <a:pPr indent="0" marL="0">
              <a:buNone/>
            </a:pPr>
            <a:r>
              <a:rPr lang="en-US" sz="12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RDK X5 与 Raspberry Pi 4B 尺寸、40-pin、孔位完全同规格 ➜ 落位即用，接线零改动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26280" y="1645920"/>
            <a:ext cx="7251192" cy="4754880"/>
          </a:xfrm>
          <a:prstGeom prst="roundRect">
            <a:avLst>
              <a:gd name="adj" fmla="val 2692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6537960" y="1435608"/>
            <a:ext cx="3200400" cy="457200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537960" y="14356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表 2-1  主要硬件清单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736592" y="1975104"/>
            <a:ext cx="681228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19" name="Text 16"/>
          <p:cNvSpPr/>
          <p:nvPr/>
        </p:nvSpPr>
        <p:spPr>
          <a:xfrm>
            <a:off x="479145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🧠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5285232" y="1975104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主计算板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547104" y="197510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地瓜机器人 RDK X5 · 8×A55@1.5GHz · 10 TOPS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857232" y="197510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推理/控制/SLAM/看板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36592" y="2606040"/>
            <a:ext cx="681228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4" name="Text 21"/>
          <p:cNvSpPr/>
          <p:nvPr/>
        </p:nvSpPr>
        <p:spPr>
          <a:xfrm>
            <a:off x="4791456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🔩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285232" y="260604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运动控制板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547104" y="260604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轮趣 C30D（STM32F407VET6）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857232" y="2606040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PID/里程计/IMU/电源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736592" y="3236976"/>
            <a:ext cx="681228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9" name="Text 26"/>
          <p:cNvSpPr/>
          <p:nvPr/>
        </p:nvSpPr>
        <p:spPr>
          <a:xfrm>
            <a:off x="4791456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🛰️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5285232" y="3236976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激光雷达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6547104" y="323697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镭神 LSLIDAR N10P（串口版）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857232" y="3236976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/scan：避障+SLAM+看板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36592" y="3867912"/>
            <a:ext cx="681228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34" name="Text 31"/>
          <p:cNvSpPr/>
          <p:nvPr/>
        </p:nvSpPr>
        <p:spPr>
          <a:xfrm>
            <a:off x="4791456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📷</a:t>
            </a:r>
            <a:endParaRPr lang="en-US" sz="1900" dirty="0"/>
          </a:p>
        </p:txBody>
      </p:sp>
      <p:sp>
        <p:nvSpPr>
          <p:cNvPr id="35" name="Text 32"/>
          <p:cNvSpPr/>
          <p:nvPr/>
        </p:nvSpPr>
        <p:spPr>
          <a:xfrm>
            <a:off x="5285232" y="386791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摄像头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6547104" y="386791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USB 免驱 640×480@30fps 侧前视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57232" y="3867912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 image_raw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736592" y="4498848"/>
            <a:ext cx="681228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39" name="Text 36"/>
          <p:cNvSpPr/>
          <p:nvPr/>
        </p:nvSpPr>
        <p:spPr>
          <a:xfrm>
            <a:off x="4791456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📢</a:t>
            </a:r>
            <a:endParaRPr lang="en-US" sz="1900" dirty="0"/>
          </a:p>
        </p:txBody>
      </p:sp>
      <p:sp>
        <p:nvSpPr>
          <p:cNvPr id="40" name="Text 37"/>
          <p:cNvSpPr/>
          <p:nvPr/>
        </p:nvSpPr>
        <p:spPr>
          <a:xfrm>
            <a:off x="5285232" y="4498848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语音模块</a:t>
            </a:r>
            <a:endParaRPr lang="en-US" sz="1350" dirty="0"/>
          </a:p>
        </p:txBody>
      </p:sp>
      <p:sp>
        <p:nvSpPr>
          <p:cNvPr id="41" name="Text 38"/>
          <p:cNvSpPr/>
          <p:nvPr/>
        </p:nvSpPr>
        <p:spPr>
          <a:xfrm>
            <a:off x="6547104" y="449884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串口播报（/dev/ttyS1 · 115200）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9857232" y="4498848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缺陷现场语音告警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736592" y="5129784"/>
            <a:ext cx="681228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44" name="Text 41"/>
          <p:cNvSpPr/>
          <p:nvPr/>
        </p:nvSpPr>
        <p:spPr>
          <a:xfrm>
            <a:off x="4791456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⚙️</a:t>
            </a:r>
            <a:endParaRPr lang="en-US" sz="1900" dirty="0"/>
          </a:p>
        </p:txBody>
      </p:sp>
      <p:sp>
        <p:nvSpPr>
          <p:cNvPr id="45" name="Text 42"/>
          <p:cNvSpPr/>
          <p:nvPr/>
        </p:nvSpPr>
        <p:spPr>
          <a:xfrm>
            <a:off x="5285232" y="5129784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电机</a:t>
            </a:r>
            <a:endParaRPr lang="en-US" sz="1350" dirty="0"/>
          </a:p>
        </p:txBody>
      </p:sp>
      <p:sp>
        <p:nvSpPr>
          <p:cNvPr id="46" name="Text 43"/>
          <p:cNvSpPr/>
          <p:nvPr/>
        </p:nvSpPr>
        <p:spPr>
          <a:xfrm>
            <a:off x="6547104" y="512978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直流减速电机 ×4（带编码器）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9857232" y="512978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四驱差速执行机构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736592" y="5760720"/>
            <a:ext cx="681228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49" name="Text 46"/>
          <p:cNvSpPr/>
          <p:nvPr/>
        </p:nvSpPr>
        <p:spPr>
          <a:xfrm>
            <a:off x="4791456" y="5797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🔋</a:t>
            </a:r>
            <a:endParaRPr lang="en-US" sz="1900" dirty="0"/>
          </a:p>
        </p:txBody>
      </p:sp>
      <p:sp>
        <p:nvSpPr>
          <p:cNvPr id="50" name="Text 47"/>
          <p:cNvSpPr/>
          <p:nvPr/>
        </p:nvSpPr>
        <p:spPr>
          <a:xfrm>
            <a:off x="5285232" y="576072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95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</a:t>
            </a:r>
            <a:endParaRPr lang="en-US" sz="1350" dirty="0"/>
          </a:p>
        </p:txBody>
      </p:sp>
      <p:sp>
        <p:nvSpPr>
          <p:cNvPr id="51" name="Text 48"/>
          <p:cNvSpPr/>
          <p:nvPr/>
        </p:nvSpPr>
        <p:spPr>
          <a:xfrm>
            <a:off x="6547104" y="576072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锂电池组 6–16 V · 底盘直充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9857232" y="5760720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整机供电+电压上报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C30D 运动控制板：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资源详解</a:t>
            </a:r>
            <a:pPr indent="0" marL="0">
              <a:buNone/>
            </a:pPr>
            <a:r>
              <a:rPr lang="en-US" sz="2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× </a:t>
            </a:r>
            <a:pPr indent="0" marL="0">
              <a:buNone/>
            </a:pPr>
            <a:r>
              <a:rPr lang="en-US" sz="29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装机实物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4A8BC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8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2.2.3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548640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dash"/>
          </a:ln>
        </p:spPr>
      </p:sp>
      <p:pic>
        <p:nvPicPr>
          <p:cNvPr id="11" name="Image 0" descr="/home/claude/imgs/image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968" y="1824228"/>
            <a:ext cx="3864864" cy="289864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104138" y="1380744"/>
            <a:ext cx="4192524" cy="420624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104138" y="1380744"/>
            <a:ext cx="41925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2-3  C30D 运动控制板资源详解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309360" y="1600200"/>
            <a:ext cx="548640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dash"/>
          </a:ln>
        </p:spPr>
      </p:sp>
      <p:pic>
        <p:nvPicPr>
          <p:cNvPr id="15" name="Image 1" descr="/home/claude/imgs/image2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932" y="1824228"/>
            <a:ext cx="3867256" cy="289864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7970" y="1380744"/>
            <a:ext cx="4869180" cy="420624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617970" y="1380744"/>
            <a:ext cx="48691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3-6  C30D 装机实物（顶置 OLED）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5870448" y="3017520"/>
            <a:ext cx="502920" cy="457200"/>
          </a:xfrm>
          <a:prstGeom prst="right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5212080"/>
            <a:ext cx="274320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0" name="Text 16"/>
          <p:cNvSpPr/>
          <p:nvPr/>
        </p:nvSpPr>
        <p:spPr>
          <a:xfrm>
            <a:off x="512064" y="5212080"/>
            <a:ext cx="475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⚙️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1005840" y="52120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四路电机接口 MotorA–D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内置驱动 + 编码器读取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3346704" y="5212080"/>
            <a:ext cx="274320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3" name="Text 19"/>
          <p:cNvSpPr/>
          <p:nvPr/>
        </p:nvSpPr>
        <p:spPr>
          <a:xfrm>
            <a:off x="3401568" y="5212080"/>
            <a:ext cx="475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📐</a:t>
            </a:r>
            <a:endParaRPr lang="en-US" sz="2100" dirty="0"/>
          </a:p>
        </p:txBody>
      </p:sp>
      <p:sp>
        <p:nvSpPr>
          <p:cNvPr id="24" name="Text 20"/>
          <p:cNvSpPr/>
          <p:nvPr/>
        </p:nvSpPr>
        <p:spPr>
          <a:xfrm>
            <a:off x="3895344" y="52120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板载 IMU + 串口3 通信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udev 固定 /dev/xun_controller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236208" y="5212080"/>
            <a:ext cx="274320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6" name="Text 22"/>
          <p:cNvSpPr/>
          <p:nvPr/>
        </p:nvSpPr>
        <p:spPr>
          <a:xfrm>
            <a:off x="6291072" y="5212080"/>
            <a:ext cx="475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🔋</a:t>
            </a:r>
            <a:endParaRPr lang="en-US" sz="2100" dirty="0"/>
          </a:p>
        </p:txBody>
      </p:sp>
      <p:sp>
        <p:nvSpPr>
          <p:cNvPr id="27" name="Text 23"/>
          <p:cNvSpPr/>
          <p:nvPr/>
        </p:nvSpPr>
        <p:spPr>
          <a:xfrm>
            <a:off x="6784848" y="52120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6–16 V 宽压输入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DC-DC 直出 Type-C 供上位机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9125712" y="5212080"/>
            <a:ext cx="274320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29" name="Text 25"/>
          <p:cNvSpPr/>
          <p:nvPr/>
        </p:nvSpPr>
        <p:spPr>
          <a:xfrm>
            <a:off x="9180576" y="5212080"/>
            <a:ext cx="475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🎮</a:t>
            </a:r>
            <a:endParaRPr lang="en-US" sz="2100" dirty="0"/>
          </a:p>
        </p:txBody>
      </p:sp>
      <p:sp>
        <p:nvSpPr>
          <p:cNvPr id="30" name="Text 26"/>
          <p:cNvSpPr/>
          <p:nvPr/>
        </p:nvSpPr>
        <p:spPr>
          <a:xfrm>
            <a:off x="9674352" y="52120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丰富拓展 IO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CAN/SWD/OLED/6路舵机/手柄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457200" y="49011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实物接线与资源详解、连接框架逐一对应，链路上电即用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0E8A7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主机—底盘通信：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0x7B ··· 0x7D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定长帧 + BCC 校验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0E8A7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2.2.3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781812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dash"/>
          </a:ln>
        </p:spPr>
      </p:sp>
      <p:pic>
        <p:nvPicPr>
          <p:cNvPr id="11" name="Image 0" descr="/home/claude/imgs/image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799419"/>
            <a:ext cx="7580376" cy="426500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354580" y="1353312"/>
            <a:ext cx="4023360" cy="420624"/>
          </a:xfrm>
          <a:prstGeom prst="roundRect">
            <a:avLst>
              <a:gd name="adj" fmla="val 45455"/>
            </a:avLst>
          </a:prstGeom>
          <a:solidFill>
            <a:srgbClr val="0E8A7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354580" y="135331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2-4  底盘串口双向通信与解析流程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549640" y="1572768"/>
            <a:ext cx="3246120" cy="4617720"/>
          </a:xfrm>
          <a:prstGeom prst="roundRect">
            <a:avLst>
              <a:gd name="adj" fmla="val 3944"/>
            </a:avLst>
          </a:prstGeom>
          <a:solidFill>
            <a:srgbClr val="E4F4F2"/>
          </a:solidFill>
          <a:ln w="28575">
            <a:solidFill>
              <a:srgbClr val="6FBFB6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869680" y="1371600"/>
            <a:ext cx="2606040" cy="420624"/>
          </a:xfrm>
          <a:prstGeom prst="roundRect">
            <a:avLst>
              <a:gd name="adj" fmla="val 45455"/>
            </a:avLst>
          </a:prstGeom>
          <a:solidFill>
            <a:srgbClr val="0E8A7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869680" y="137160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📡 协议要点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732520" y="1920240"/>
            <a:ext cx="288036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18" name="Text 15"/>
          <p:cNvSpPr/>
          <p:nvPr/>
        </p:nvSpPr>
        <p:spPr>
          <a:xfrm>
            <a:off x="8851392" y="196596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</a:t>
            </a:r>
            <a:pPr indent="0" marL="0">
              <a:buNone/>
            </a:pPr>
            <a:r>
              <a:rPr lang="en-US" sz="130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115200 bps</a:t>
            </a:r>
            <a:endParaRPr lang="en-US" sz="15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上下行均 11 字节定长帧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732520" y="2779776"/>
            <a:ext cx="288036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0" name="Text 17"/>
          <p:cNvSpPr/>
          <p:nvPr/>
        </p:nvSpPr>
        <p:spPr>
          <a:xfrm>
            <a:off x="8851392" y="2825496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🔖 </a:t>
            </a:r>
            <a:pPr indent="0" marL="0">
              <a:buNone/>
            </a:pPr>
            <a:r>
              <a:rPr lang="en-US" sz="130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帧头 0x7B / 帧尾 0x7D</a:t>
            </a:r>
            <a:endParaRPr lang="en-US" sz="15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BCC 校验位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732520" y="3639312"/>
            <a:ext cx="288036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2" name="Text 19"/>
          <p:cNvSpPr/>
          <p:nvPr/>
        </p:nvSpPr>
        <p:spPr>
          <a:xfrm>
            <a:off x="8851392" y="368503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⬆️ </a:t>
            </a:r>
            <a:pPr indent="0" marL="0">
              <a:buNone/>
            </a:pPr>
            <a:r>
              <a:rPr lang="en-US" sz="130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上行状态帧</a:t>
            </a:r>
            <a:endParaRPr lang="en-US" sz="15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三轴轮速 + IMU 原始 + 电压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732520" y="4498848"/>
            <a:ext cx="288036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4" name="Text 21"/>
          <p:cNvSpPr/>
          <p:nvPr/>
        </p:nvSpPr>
        <p:spPr>
          <a:xfrm>
            <a:off x="8851392" y="454456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⬇️ </a:t>
            </a:r>
            <a:pPr indent="0" marL="0">
              <a:buNone/>
            </a:pPr>
            <a:r>
              <a:rPr lang="en-US" sz="130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下行速度帧</a:t>
            </a:r>
            <a:endParaRPr lang="en-US" sz="15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目标线速度 + 角速度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732520" y="5358384"/>
            <a:ext cx="288036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6" name="Text 23"/>
          <p:cNvSpPr/>
          <p:nvPr/>
        </p:nvSpPr>
        <p:spPr>
          <a:xfrm>
            <a:off x="8851392" y="540410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</a:t>
            </a:r>
            <a:pPr indent="0" marL="0">
              <a:buNone/>
            </a:pPr>
            <a:r>
              <a:rPr lang="en-US" sz="130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鲁棒重同步</a:t>
            </a:r>
            <a:endParaRPr lang="en-US" sz="15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校验失败帧直接丢弃重同步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🕸️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软件总体：</a:t>
            </a:r>
            <a:pPr indent="0" marL="0">
              <a:buNone/>
            </a:pPr>
            <a:r>
              <a:rPr lang="en-US" sz="29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个功能包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ROS 2 节点数据流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7B5EA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2.3.1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7589520" cy="422452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dash"/>
          </a:ln>
        </p:spPr>
      </p:sp>
      <p:pic>
        <p:nvPicPr>
          <p:cNvPr id="11" name="Image 0" descr="/home/claude/imgs/image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475" y="1796796"/>
            <a:ext cx="7006971" cy="38770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071116" y="1353312"/>
            <a:ext cx="4361688" cy="420624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071116" y="1353312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2-5  ROS 2 节点与话题数据流图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321040" y="1572768"/>
            <a:ext cx="3474720" cy="4224528"/>
          </a:xfrm>
          <a:prstGeom prst="roundRect">
            <a:avLst>
              <a:gd name="adj" fmla="val 3684"/>
            </a:avLst>
          </a:prstGeom>
          <a:solidFill>
            <a:srgbClr val="F1ECF8"/>
          </a:solidFill>
          <a:ln w="28575">
            <a:solidFill>
              <a:srgbClr val="A98FCB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778240" y="1371600"/>
            <a:ext cx="2606040" cy="420624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778240" y="137160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 核心功能包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503920" y="1883664"/>
            <a:ext cx="3127248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18" name="Text 15"/>
          <p:cNvSpPr/>
          <p:nvPr/>
        </p:nvSpPr>
        <p:spPr>
          <a:xfrm>
            <a:off x="8613648" y="18836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kom_base  </a:t>
            </a:r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底盘驱动·EKF·模型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503920" y="2432304"/>
            <a:ext cx="3127248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20" name="Text 17"/>
          <p:cNvSpPr/>
          <p:nvPr/>
        </p:nvSpPr>
        <p:spPr>
          <a:xfrm>
            <a:off x="8613648" y="24323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lslidar_driver  </a:t>
            </a:r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N10P 雷达 /scan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503920" y="2980944"/>
            <a:ext cx="3127248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22" name="Text 19"/>
          <p:cNvSpPr/>
          <p:nvPr/>
        </p:nvSpPr>
        <p:spPr>
          <a:xfrm>
            <a:off x="8613648" y="29809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7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yolo_line_avoidance  </a:t>
            </a:r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识别+控制+检测 ★核心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503920" y="3529584"/>
            <a:ext cx="3127248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24" name="Text 21"/>
          <p:cNvSpPr/>
          <p:nvPr/>
        </p:nvSpPr>
        <p:spPr>
          <a:xfrm>
            <a:off x="8613648" y="35295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xun_voice_comm  </a:t>
            </a:r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语音串口播报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503920" y="4078224"/>
            <a:ext cx="3127248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26" name="Text 23"/>
          <p:cNvSpPr/>
          <p:nvPr/>
        </p:nvSpPr>
        <p:spPr>
          <a:xfrm>
            <a:off x="8613648" y="40782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xun_web_dashboard  </a:t>
            </a:r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看板+一键启停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503920" y="4626864"/>
            <a:ext cx="3127248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28" name="Text 25"/>
          <p:cNvSpPr/>
          <p:nvPr/>
        </p:nvSpPr>
        <p:spPr>
          <a:xfrm>
            <a:off x="8613648" y="46268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xun_cartographer 等  </a:t>
            </a:r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三套 SLAM 方案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503920" y="5175504"/>
            <a:ext cx="3127248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30" name="Text 27"/>
          <p:cNvSpPr/>
          <p:nvPr/>
        </p:nvSpPr>
        <p:spPr>
          <a:xfrm>
            <a:off x="8613648" y="51755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95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bpu_result  </a:t>
            </a:r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模型转换+SHA-256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57200" y="5925312"/>
            <a:ext cx="11320272" cy="502920"/>
          </a:xfrm>
          <a:prstGeom prst="roundRect">
            <a:avLst>
              <a:gd name="adj" fmla="val 25455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32" name="Text 29"/>
          <p:cNvSpPr/>
          <p:nvPr/>
        </p:nvSpPr>
        <p:spPr>
          <a:xfrm>
            <a:off x="731520" y="59253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🧰 构建：</a:t>
            </a:r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colcon build + source 一次即用 · 支持单包增量编译 · PC/手机浏览器零客户端 · RViz2 同 DDS 域可视化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输电线识别：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 流水线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三带采样零标定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8762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2.3.2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11320272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dash"/>
          </a:ln>
        </p:spPr>
      </p:sp>
      <p:pic>
        <p:nvPicPr>
          <p:cNvPr id="11" name="Image 0" descr="/home/claude/imgs/image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8931" y="1796796"/>
            <a:ext cx="6056810" cy="276148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557016" y="1353312"/>
            <a:ext cx="5120640" cy="420624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557016" y="135331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2-6  V3 输电线识别流水线（yolo_line_detector_V3.py）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57200" y="4937760"/>
            <a:ext cx="216712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15" name="Text 12"/>
          <p:cNvSpPr/>
          <p:nvPr/>
        </p:nvSpPr>
        <p:spPr>
          <a:xfrm>
            <a:off x="512064" y="4937760"/>
            <a:ext cx="475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🧠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005840" y="4937760"/>
            <a:ext cx="1527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BPU 运行时自适应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hobot_dnn / hbm_runtime 自动探测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2770632" y="4937760"/>
            <a:ext cx="216712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18" name="Text 15"/>
          <p:cNvSpPr/>
          <p:nvPr/>
        </p:nvSpPr>
        <p:spPr>
          <a:xfrm>
            <a:off x="2825496" y="4937760"/>
            <a:ext cx="475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🖼️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3319272" y="4937760"/>
            <a:ext cx="1527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640×640 → NV12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BPU 输出线缆二值掩码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084064" y="4937760"/>
            <a:ext cx="216712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1" name="Text 18"/>
          <p:cNvSpPr/>
          <p:nvPr/>
        </p:nvSpPr>
        <p:spPr>
          <a:xfrm>
            <a:off x="5138928" y="4937760"/>
            <a:ext cx="475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📏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5632704" y="4937760"/>
            <a:ext cx="1527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三带划分（H 比例）</a:t>
            </a:r>
            <a:endParaRPr lang="en-US" sz="1250" dirty="0"/>
          </a:p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近0.72–0.95 中0.50–0.70 远0.30–0.48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397496" y="4937760"/>
            <a:ext cx="216712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24" name="Text 21"/>
          <p:cNvSpPr/>
          <p:nvPr/>
        </p:nvSpPr>
        <p:spPr>
          <a:xfrm>
            <a:off x="7452360" y="4937760"/>
            <a:ext cx="475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✅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7946136" y="4937760"/>
            <a:ext cx="1527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检出判定门限</a:t>
            </a:r>
            <a:endParaRPr lang="en-US" sz="1250" dirty="0"/>
          </a:p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≥20 像素/带 · ≥2 有效带 · 置信0.35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9710928" y="4937760"/>
            <a:ext cx="216712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27" name="Text 24"/>
          <p:cNvSpPr/>
          <p:nvPr/>
        </p:nvSpPr>
        <p:spPr>
          <a:xfrm>
            <a:off x="9765792" y="4937760"/>
            <a:ext cx="475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📤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10259568" y="4937760"/>
            <a:ext cx="1527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 LineDetection</a:t>
            </a:r>
            <a:endParaRPr lang="en-US" sz="1250" dirty="0"/>
          </a:p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横向+航向偏差 · 分带误差 · 目标点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2633472" y="5358384"/>
            <a:ext cx="128016" cy="219456"/>
          </a:xfrm>
          <a:prstGeom prst="right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946904" y="5358384"/>
            <a:ext cx="128016" cy="219456"/>
          </a:xfrm>
          <a:prstGeom prst="right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260336" y="5358384"/>
            <a:ext cx="128016" cy="219456"/>
          </a:xfrm>
          <a:prstGeom prst="right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9573768" y="5358384"/>
            <a:ext cx="128016" cy="219456"/>
          </a:xfrm>
          <a:prstGeom prst="right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57200" y="6053328"/>
            <a:ext cx="11320272" cy="365760"/>
          </a:xfrm>
          <a:prstGeom prst="roundRect">
            <a:avLst>
              <a:gd name="adj" fmla="val 35000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34" name="Text 31"/>
          <p:cNvSpPr/>
          <p:nvPr/>
        </p:nvSpPr>
        <p:spPr>
          <a:xfrm>
            <a:off x="731520" y="6053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调试可视化 /line_detection/debug_image：叠加 ROI 框、三带边界、拟合线、误差数值与丢线原因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巡线控制：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五状态安全状态机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@20 Hz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4A8BC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8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2.3.2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7818120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dash"/>
          </a:ln>
        </p:spPr>
      </p:sp>
      <p:pic>
        <p:nvPicPr>
          <p:cNvPr id="11" name="Image 0" descr="/home/claude/imgs/image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16466"/>
            <a:ext cx="7580376" cy="42309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608326" y="1353312"/>
            <a:ext cx="3515868" cy="420624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608326" y="1353312"/>
            <a:ext cx="35158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2-7  巡线控制五状态状态机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549640" y="1572768"/>
            <a:ext cx="3246120" cy="4617720"/>
          </a:xfrm>
          <a:prstGeom prst="roundRect">
            <a:avLst>
              <a:gd name="adj" fmla="val 3944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851392" y="1371600"/>
            <a:ext cx="2651760" cy="420624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851392" y="137160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🚦 状态与门限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732520" y="1920240"/>
            <a:ext cx="288036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18" name="Text 15"/>
          <p:cNvSpPr/>
          <p:nvPr/>
        </p:nvSpPr>
        <p:spPr>
          <a:xfrm>
            <a:off x="8851392" y="19659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IDLE → ACQUIRE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置信度≥0.35 且质量≥0.20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732520" y="2670048"/>
            <a:ext cx="288036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0" name="Text 17"/>
          <p:cNvSpPr/>
          <p:nvPr/>
        </p:nvSpPr>
        <p:spPr>
          <a:xfrm>
            <a:off x="8851392" y="27157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5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ACQUIRE → TRACK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连续有效帧确认后进入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732520" y="3419856"/>
            <a:ext cx="288036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2" name="Text 19"/>
          <p:cNvSpPr/>
          <p:nvPr/>
        </p:nvSpPr>
        <p:spPr>
          <a:xfrm>
            <a:off x="8851392" y="346557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稳定跟踪 · 连续回中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732520" y="4169664"/>
            <a:ext cx="288036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4" name="Text 21"/>
          <p:cNvSpPr/>
          <p:nvPr/>
        </p:nvSpPr>
        <p:spPr>
          <a:xfrm>
            <a:off x="8851392" y="421538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LOST_SHORT &lt;0.25s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记忆方向缓转搜索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732520" y="4919472"/>
            <a:ext cx="288036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6" name="Text 23"/>
          <p:cNvSpPr/>
          <p:nvPr/>
        </p:nvSpPr>
        <p:spPr>
          <a:xfrm>
            <a:off x="8851392" y="49651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LOST_LONG ≥0.25s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立即零速停车 🛑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732520" y="5705856"/>
            <a:ext cx="2880360" cy="384048"/>
          </a:xfrm>
          <a:prstGeom prst="roundRect">
            <a:avLst>
              <a:gd name="adj" fmla="val 33333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8" name="Text 25"/>
          <p:cNvSpPr/>
          <p:nvPr/>
        </p:nvSpPr>
        <p:spPr>
          <a:xfrm>
            <a:off x="8778240" y="570585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⏱️ 消息超时 0.35 s 回落 IDLE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0E8A7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⚖️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控制闭环：</a:t>
            </a:r>
            <a:pPr indent="0" marL="0">
              <a:buNone/>
            </a:pPr>
            <a:r>
              <a:rPr lang="en-US" sz="290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冲突仲裁 PD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非对称转向补偿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0E8A7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2.3.2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6949440" cy="402336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dash"/>
          </a:ln>
        </p:spPr>
      </p:sp>
      <p:pic>
        <p:nvPicPr>
          <p:cNvPr id="11" name="Image 0" descr="/home/claude/imgs/image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262" y="1796796"/>
            <a:ext cx="6533317" cy="367588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463040" y="1353312"/>
            <a:ext cx="4937760" cy="420624"/>
          </a:xfrm>
          <a:prstGeom prst="roundRect">
            <a:avLst>
              <a:gd name="adj" fmla="val 45455"/>
            </a:avLst>
          </a:prstGeom>
          <a:solidFill>
            <a:srgbClr val="0E8A7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463040" y="135331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2-8  视觉偏移+LiDAR避障→速度指令→差分轮闭环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680960" y="1572768"/>
            <a:ext cx="4114800" cy="4023360"/>
          </a:xfrm>
          <a:prstGeom prst="roundRect">
            <a:avLst>
              <a:gd name="adj" fmla="val 3182"/>
            </a:avLst>
          </a:prstGeom>
          <a:solidFill>
            <a:srgbClr val="E4F4F2"/>
          </a:solidFill>
          <a:ln w="28575">
            <a:solidFill>
              <a:srgbClr val="6FBFB6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366760" y="1371600"/>
            <a:ext cx="2743200" cy="420624"/>
          </a:xfrm>
          <a:prstGeom prst="roundRect">
            <a:avLst>
              <a:gd name="adj" fmla="val 45455"/>
            </a:avLst>
          </a:prstGeom>
          <a:solidFill>
            <a:srgbClr val="0E8A7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366760" y="13716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🎛️ 关键参数（表2-4）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863840" y="188366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 = </a:t>
            </a:r>
            <a:pPr algn="ctr" indent="0" marL="0">
              <a:buNone/>
            </a:pPr>
            <a:r>
              <a:rPr lang="en-US" sz="22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Kp·e</a:t>
            </a:r>
            <a:pPr algn="ctr"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pPr algn="ctr" indent="0" marL="0">
              <a:buNone/>
            </a:pPr>
            <a:r>
              <a:rPr lang="en-US" sz="22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Kh·θ</a:t>
            </a:r>
            <a:pPr algn="ctr"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pPr algn="ctr" indent="0" marL="0">
              <a:buNone/>
            </a:pPr>
            <a:r>
              <a:rPr lang="en-US" sz="22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Kd·ė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863840" y="2487168"/>
            <a:ext cx="3749040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19" name="Text 16"/>
          <p:cNvSpPr/>
          <p:nvPr/>
        </p:nvSpPr>
        <p:spPr>
          <a:xfrm>
            <a:off x="7973568" y="248716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 / Kh / Kd：</a:t>
            </a:r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0.11 / 0.14 / 0.04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863840" y="3008376"/>
            <a:ext cx="3749040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1" name="Text 18"/>
          <p:cNvSpPr/>
          <p:nvPr/>
        </p:nvSpPr>
        <p:spPr>
          <a:xfrm>
            <a:off x="7973568" y="300837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仲裁触发门限：</a:t>
            </a:r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航向偏差&gt;0.035 · 冲突比&gt;0.60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863840" y="3529584"/>
            <a:ext cx="3749040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3" name="Text 20"/>
          <p:cNvSpPr/>
          <p:nvPr/>
        </p:nvSpPr>
        <p:spPr>
          <a:xfrm>
            <a:off x="7973568" y="352958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横向权重压缩：</a:t>
            </a:r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×0.35（强偏差保底 0.65）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863840" y="4050792"/>
            <a:ext cx="3749040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5" name="Text 22"/>
          <p:cNvSpPr/>
          <p:nvPr/>
        </p:nvSpPr>
        <p:spPr>
          <a:xfrm>
            <a:off x="7973568" y="405079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负向增益补偿：</a:t>
            </a:r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×1.60 · 最小 0.026 rad/s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863840" y="4572000"/>
            <a:ext cx="3749040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7" name="Text 24"/>
          <p:cNvSpPr/>
          <p:nvPr/>
        </p:nvSpPr>
        <p:spPr>
          <a:xfrm>
            <a:off x="7973568" y="45720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速度区间：</a:t>
            </a:r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0.030 标称 · [0, 0.050] m/s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863840" y="5093208"/>
            <a:ext cx="3749040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9" name="Text 26"/>
          <p:cNvSpPr/>
          <p:nvPr/>
        </p:nvSpPr>
        <p:spPr>
          <a:xfrm>
            <a:off x="7973568" y="50932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角速度限幅：</a:t>
            </a:r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±0.18 rad/s · 40+ 参数外置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57200" y="5779008"/>
            <a:ext cx="11320272" cy="640080"/>
          </a:xfrm>
          <a:prstGeom prst="roundRect">
            <a:avLst>
              <a:gd name="adj" fmla="val 20000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731520" y="57790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仲裁逻辑：</a:t>
            </a:r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横向与航向符号冲突时压缩横向权重、令航向修正优先 </a:t>
            </a:r>
            <a:pPr indent="0" marL="0">
              <a:buNone/>
            </a:pPr>
            <a:r>
              <a:rPr lang="en-US" sz="150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➜ 消除「斜线抖动」</a:t>
            </a:r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；一阶低通 α=0.35 滤波横向变化率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缺陷检测：</a:t>
            </a:r>
            <a:pPr indent="0" marL="0">
              <a:buNone/>
            </a:pPr>
            <a:r>
              <a:rPr lang="en-US" sz="29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 ➜ 告警 ➜ 记录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全闭环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5BA85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A8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2.3.2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11320272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dash"/>
          </a:ln>
        </p:spPr>
      </p:sp>
      <p:pic>
        <p:nvPicPr>
          <p:cNvPr id="11" name="Image 0" descr="/home/claude/imgs/image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6856" y="1796796"/>
            <a:ext cx="6440960" cy="289864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059936" y="1353312"/>
            <a:ext cx="4114800" cy="420624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059936" y="135331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2-9  缺陷检测—语音告警—记录闭环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57200" y="5029200"/>
            <a:ext cx="2167128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15" name="Text 12"/>
          <p:cNvSpPr/>
          <p:nvPr/>
        </p:nvSpPr>
        <p:spPr>
          <a:xfrm>
            <a:off x="512064" y="502920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🏷️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005840" y="5029200"/>
            <a:ext cx="1527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YOLOv8n 双类别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0=break 破损 · 1=thunderbolt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2770632" y="5029200"/>
            <a:ext cx="2167128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18" name="Text 15"/>
          <p:cNvSpPr/>
          <p:nvPr/>
        </p:nvSpPr>
        <p:spPr>
          <a:xfrm>
            <a:off x="2825496" y="502920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✂️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3319272" y="5029200"/>
            <a:ext cx="1527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中央裁剪 ×0.55 推理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 0.30 · NMS 0.50 · 面积过滤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084064" y="5029200"/>
            <a:ext cx="2167128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D98880"/>
            </a:solidFill>
            <a:prstDash val="sysDash"/>
          </a:ln>
        </p:spPr>
      </p:sp>
      <p:sp>
        <p:nvSpPr>
          <p:cNvPr id="21" name="Text 18"/>
          <p:cNvSpPr/>
          <p:nvPr/>
        </p:nvSpPr>
        <p:spPr>
          <a:xfrm>
            <a:off x="5138928" y="502920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🚫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5632704" y="5029200"/>
            <a:ext cx="1527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类别过滤策略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skip thunderbolt · 仅 break 报警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397496" y="5029200"/>
            <a:ext cx="2167128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24" name="Text 21"/>
          <p:cNvSpPr/>
          <p:nvPr/>
        </p:nvSpPr>
        <p:spPr>
          <a:xfrm>
            <a:off x="7452360" y="502920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📤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7946136" y="5029200"/>
            <a:ext cx="1527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LineDefect 11 字段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框坐标·中心·得分·连续性比率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9710928" y="5029200"/>
            <a:ext cx="2167128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7" name="Text 24"/>
          <p:cNvSpPr/>
          <p:nvPr/>
        </p:nvSpPr>
        <p:spPr>
          <a:xfrm>
            <a:off x="9765792" y="502920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🧩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10259568" y="5029200"/>
            <a:ext cx="1527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轻量版并行互不干扰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不发 /cmd_vel · 拼接图统一查看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2633472" y="5431536"/>
            <a:ext cx="128016" cy="219456"/>
          </a:xfrm>
          <a:prstGeom prst="rightArrow">
            <a:avLst/>
          </a:prstGeom>
          <a:solidFill>
            <a:srgbClr val="5BA85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946904" y="5431536"/>
            <a:ext cx="128016" cy="219456"/>
          </a:xfrm>
          <a:prstGeom prst="rightArrow">
            <a:avLst/>
          </a:prstGeom>
          <a:solidFill>
            <a:srgbClr val="5BA85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260336" y="5431536"/>
            <a:ext cx="128016" cy="219456"/>
          </a:xfrm>
          <a:prstGeom prst="rightArrow">
            <a:avLst/>
          </a:prstGeom>
          <a:solidFill>
            <a:srgbClr val="5BA85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9573768" y="5431536"/>
            <a:ext cx="128016" cy="219456"/>
          </a:xfrm>
          <a:prstGeom prst="rightArrow">
            <a:avLst/>
          </a:prstGeom>
          <a:solidFill>
            <a:srgbClr val="5BA85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57200" y="6126480"/>
            <a:ext cx="11320272" cy="310896"/>
          </a:xfrm>
          <a:prstGeom prst="roundRect">
            <a:avLst>
              <a:gd name="adj" fmla="val 41176"/>
            </a:avLst>
          </a:prstGeom>
          <a:solidFill>
            <a:srgbClr val="FBE9E7"/>
          </a:solidFill>
          <a:ln w="28575">
            <a:solidFill>
              <a:srgbClr val="D98880"/>
            </a:solidFill>
            <a:prstDash val="sysDash"/>
          </a:ln>
        </p:spPr>
      </p:sp>
      <p:sp>
        <p:nvSpPr>
          <p:cNvPr id="34" name="Text 31"/>
          <p:cNvSpPr/>
          <p:nvPr/>
        </p:nvSpPr>
        <p:spPr>
          <a:xfrm>
            <a:off x="731520" y="6126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针对现场 thunderbolt 误报率高的问题 ➜ 类别过滤后误报显著抑制，3 s 冷却去抖避免重复播报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巡检看板：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浏览器即用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零安装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8762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2.3.2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11320272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dash"/>
          </a:ln>
        </p:spPr>
      </p:sp>
      <p:pic>
        <p:nvPicPr>
          <p:cNvPr id="11" name="Image 0" descr="/home/claude/imgs/image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9320" y="1796796"/>
            <a:ext cx="6496031" cy="267004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419856" y="1353312"/>
            <a:ext cx="5394960" cy="420624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19856" y="135331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2-10  Web 看板服务架构（ThreadingHTTPServer :8080）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57200" y="4828032"/>
            <a:ext cx="6035040" cy="1572768"/>
          </a:xfrm>
          <a:prstGeom prst="roundRect">
            <a:avLst>
              <a:gd name="adj" fmla="val 8140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1463040" y="4626864"/>
            <a:ext cx="3108960" cy="402336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463040" y="462686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🔌 HTTP 接口（表2-5）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13232" y="508406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/api/state  </a:t>
            </a:r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位姿·电压·损伤记录 JSON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13232" y="540410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/api/frame · /api/stream  </a:t>
            </a:r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JPEG 帧 / MJPEG 视频流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13232" y="572414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5B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/api/system/start · stop  </a:t>
            </a:r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一键启停 launch 进程组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13232" y="604418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5E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/api/logs/clear · delete  </a:t>
            </a:r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损伤记录清空/单条删除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720840" y="4828032"/>
            <a:ext cx="5074920" cy="1572768"/>
          </a:xfrm>
          <a:prstGeom prst="roundRect">
            <a:avLst>
              <a:gd name="adj" fmla="val 8140"/>
            </a:avLst>
          </a:prstGeom>
          <a:solidFill>
            <a:srgbClr val="EAF5EA"/>
          </a:solidFill>
          <a:ln w="28575">
            <a:solidFill>
              <a:srgbClr val="8CC08C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7772400" y="4626864"/>
            <a:ext cx="2926080" cy="402336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772400" y="462686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前端能力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49440" y="50840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🎞️ 视频源三路切换：原始 / 巡线调试 / 缺陷调试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949440" y="54041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🗺️ 地图画布三层叠加：/map + /scan + /odom 轨迹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949440" y="57241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🔋 电压条低电量提示 · 📝 损伤记录随位置持久留存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949440" y="60441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PC / 手机浏览器即用 · RViz2 同域可视化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🗺️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SLAM 与导航：</a:t>
            </a:r>
            <a:pPr indent="0" marL="0">
              <a:buNone/>
            </a:pPr>
            <a:r>
              <a:rPr lang="en-US" sz="29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三套方案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⊕ EKF 融合定位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7B5EA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2.3.2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11320272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dash"/>
          </a:ln>
        </p:spPr>
      </p:sp>
      <p:pic>
        <p:nvPicPr>
          <p:cNvPr id="11" name="Image 0" descr="/home/claude/imgs/image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160" y="1796796"/>
            <a:ext cx="6700352" cy="25786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831336" y="1353312"/>
            <a:ext cx="4572000" cy="420624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831336" y="135331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2-11  SLAM 建图与可视化数据流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57200" y="4754880"/>
            <a:ext cx="274320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15" name="Text 12"/>
          <p:cNvSpPr/>
          <p:nvPr/>
        </p:nvSpPr>
        <p:spPr>
          <a:xfrm>
            <a:off x="512064" y="475488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🧭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005840" y="4754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Cartographer 主用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前后端图优化 · 回环闭合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346704" y="4754880"/>
            <a:ext cx="274320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18" name="Text 15"/>
          <p:cNvSpPr/>
          <p:nvPr/>
        </p:nvSpPr>
        <p:spPr>
          <a:xfrm>
            <a:off x="3401568" y="475488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🎲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3895344" y="4754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GMapping 备选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RBPF 粒子滤波建图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36208" y="4754880"/>
            <a:ext cx="274320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21" name="Text 18"/>
          <p:cNvSpPr/>
          <p:nvPr/>
        </p:nvSpPr>
        <p:spPr>
          <a:xfrm>
            <a:off x="6291072" y="475488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🧰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6784848" y="4754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slam_toolbox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 sync / async 双模式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125712" y="4754880"/>
            <a:ext cx="274320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4" name="Text 21"/>
          <p:cNvSpPr/>
          <p:nvPr/>
        </p:nvSpPr>
        <p:spPr>
          <a:xfrm>
            <a:off x="9180576" y="475488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⚗️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9674352" y="4754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EKF 各取所长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里程计取速度 · IMU 取姿态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57200" y="5907024"/>
            <a:ext cx="11320272" cy="530352"/>
          </a:xfrm>
          <a:prstGeom prst="roundRect">
            <a:avLst>
              <a:gd name="adj" fmla="val 24138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dash"/>
          </a:ln>
        </p:spPr>
      </p:sp>
      <p:sp>
        <p:nvSpPr>
          <p:cNvPr id="27" name="Text 24"/>
          <p:cNvSpPr/>
          <p:nvPr/>
        </p:nvSpPr>
        <p:spPr>
          <a:xfrm>
            <a:off x="731520" y="590702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🔮 融合策略：</a:t>
            </a:r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编码器短期准长期漂 ➜ 只取 vx·vy·yaw_rate；IMU 角度准加速度漂 ➜ 只取 yaw 姿态；输出 </a:t>
            </a:r>
            <a:pPr indent="0" marL="0">
              <a:buNone/>
            </a:pPr>
            <a:r>
              <a:rPr lang="en-US" sz="1350" b="1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odom_combined</a:t>
            </a:r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平滑位姿供 SLAM 先验（10 Hz · two_d_mode）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SLAM 算法深潜：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粒子滤波</a:t>
            </a:r>
            <a:pPr indent="0" marL="0">
              <a:buNone/>
            </a:pPr>
            <a:r>
              <a:rPr lang="en-US" sz="2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vs </a:t>
            </a:r>
            <a:pPr indent="0" marL="0">
              <a:buNone/>
            </a:pPr>
            <a:r>
              <a:rPr lang="en-US" sz="29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图优化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7B5EA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3.2.3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54864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dash"/>
          </a:ln>
        </p:spPr>
      </p:sp>
      <p:pic>
        <p:nvPicPr>
          <p:cNvPr id="11" name="Image 0" descr="/home/claude/imgs/image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64" y="1824228"/>
            <a:ext cx="5071872" cy="285292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34974" y="1380744"/>
            <a:ext cx="4530852" cy="420624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34974" y="1380744"/>
            <a:ext cx="45308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3-9  GMapping 粒子滤波主循环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309360" y="1600200"/>
            <a:ext cx="54864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dash"/>
          </a:ln>
        </p:spPr>
      </p:sp>
      <p:pic>
        <p:nvPicPr>
          <p:cNvPr id="15" name="Image 1" descr="/home/claude/imgs/image2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12" y="1824228"/>
            <a:ext cx="5111496" cy="28529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537960" y="1380744"/>
            <a:ext cx="5029200" cy="420624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537960" y="138074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3-10  Cartographer 前端/后端架构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5907024" y="292608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400" dirty="0"/>
          </a:p>
        </p:txBody>
      </p:sp>
      <p:sp>
        <p:nvSpPr>
          <p:cNvPr id="19" name="Shape 15"/>
          <p:cNvSpPr/>
          <p:nvPr/>
        </p:nvSpPr>
        <p:spPr>
          <a:xfrm>
            <a:off x="457200" y="5074920"/>
            <a:ext cx="11320272" cy="1417320"/>
          </a:xfrm>
          <a:prstGeom prst="roundRect">
            <a:avLst>
              <a:gd name="adj" fmla="val 9032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dash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5230368"/>
          <a:ext cx="10698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434840"/>
                <a:gridCol w="443484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特性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6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🎲 GMapping（粒子滤波）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🧭 Cartographer（图优化）★主用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75B1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回环检测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无，大场景缓慢漂移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5EA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分支定界（门限0.65），全局一致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75B1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内存形态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每粒子一张全图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5EA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子图组织（45帧/张）更省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75B1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本作品角色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DA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备选方案 / 教学对照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B5EA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主用（xun_line_patrol 集成）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9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C9950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BPU 量化部署：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 ➜ ONNX ➜ 量化 ➜ 校验 ➜ 上板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C9950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95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2.3.2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11320272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dash"/>
          </a:ln>
        </p:spPr>
      </p:sp>
      <p:pic>
        <p:nvPicPr>
          <p:cNvPr id="11" name="Image 0" descr="/home/claude/imgs/image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4451" y="1796796"/>
            <a:ext cx="7485771" cy="27157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922776" y="1353312"/>
            <a:ext cx="4389120" cy="420624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922776" y="135331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2-12  BPU 模型量化与部署流程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57200" y="4892040"/>
            <a:ext cx="216712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15" name="Shape 12"/>
          <p:cNvSpPr/>
          <p:nvPr/>
        </p:nvSpPr>
        <p:spPr>
          <a:xfrm>
            <a:off x="2304288" y="4782312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304288" y="47685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4956048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🏋️ </a:t>
            </a:r>
            <a:pPr algn="ctr" indent="0" marL="0">
              <a:buNone/>
            </a:pPr>
            <a:r>
              <a:rPr lang="en-US" sz="13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 训练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 轮 → .pt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2642616" y="5303520"/>
            <a:ext cx="128016" cy="237744"/>
          </a:xfrm>
          <a:prstGeom prst="right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70632" y="4892040"/>
            <a:ext cx="216712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20" name="Shape 17"/>
          <p:cNvSpPr/>
          <p:nvPr/>
        </p:nvSpPr>
        <p:spPr>
          <a:xfrm>
            <a:off x="4617720" y="4782312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17720" y="47685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862072" y="4956048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📤 </a:t>
            </a:r>
            <a:pPr algn="ctr" indent="0" marL="0">
              <a:buNone/>
            </a:pPr>
            <a:r>
              <a:rPr lang="en-US" sz="13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ONNX 导出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算子对齐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4956048" y="5303520"/>
            <a:ext cx="128016" cy="237744"/>
          </a:xfrm>
          <a:prstGeom prst="right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084064" y="4892040"/>
            <a:ext cx="216712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5" name="Shape 22"/>
          <p:cNvSpPr/>
          <p:nvPr/>
        </p:nvSpPr>
        <p:spPr>
          <a:xfrm>
            <a:off x="6931152" y="4782312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31152" y="47685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175504" y="4956048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🧪 </a:t>
            </a:r>
            <a:pPr algn="ctr" indent="0" marL="0">
              <a:buNone/>
            </a:pPr>
            <a:r>
              <a:rPr lang="en-US" sz="13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hb_mapper 编译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bayes-e·NV12·1/255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7269480" y="5303520"/>
            <a:ext cx="128016" cy="237744"/>
          </a:xfrm>
          <a:prstGeom prst="right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397496" y="4892040"/>
            <a:ext cx="216712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sysDash"/>
          </a:ln>
        </p:spPr>
      </p:sp>
      <p:sp>
        <p:nvSpPr>
          <p:cNvPr id="30" name="Shape 27"/>
          <p:cNvSpPr/>
          <p:nvPr/>
        </p:nvSpPr>
        <p:spPr>
          <a:xfrm>
            <a:off x="9244584" y="4782312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44584" y="47685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488936" y="4956048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🔎 </a:t>
            </a:r>
            <a:pPr algn="ctr" indent="0" marL="0">
              <a:buNone/>
            </a:pPr>
            <a:r>
              <a:rPr lang="en-US" sz="130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板端双重校验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hrt + SHA-256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9582912" y="5303520"/>
            <a:ext cx="128016" cy="237744"/>
          </a:xfrm>
          <a:prstGeom prst="right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9710928" y="4892040"/>
            <a:ext cx="216712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35" name="Shape 32"/>
          <p:cNvSpPr/>
          <p:nvPr/>
        </p:nvSpPr>
        <p:spPr>
          <a:xfrm>
            <a:off x="11558016" y="4782312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558016" y="47685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802368" y="4956048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</a:t>
            </a:r>
            <a:pPr algn="ctr" indent="0" marL="0">
              <a:buNone/>
            </a:pPr>
            <a:r>
              <a:rPr lang="en-US" sz="13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零拷贝推理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hobot_dnn 并行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457200" y="6053328"/>
            <a:ext cx="11320272" cy="365760"/>
          </a:xfrm>
          <a:prstGeom prst="roundRect">
            <a:avLst>
              <a:gd name="adj" fmla="val 35000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39" name="Text 36"/>
          <p:cNvSpPr/>
          <p:nvPr/>
        </p:nvSpPr>
        <p:spPr>
          <a:xfrm>
            <a:off x="731520" y="6053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📜 convert_bpu_x5_mpcd20.yaml 与 README_convert_on_x86.md 随源码归档 · 模型路径经 launch 参数注入，部署目录变化仅需改参数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整机与机械成果：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双层车架</a:t>
            </a:r>
            <a:pPr indent="0" marL="0">
              <a:buNone/>
            </a:pPr>
            <a:r>
              <a:rPr lang="en-US" sz="29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全功能联调完成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5BA85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A8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3.1/3.2.1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27632"/>
            <a:ext cx="3977640" cy="457200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dash"/>
          </a:ln>
        </p:spPr>
      </p:sp>
      <p:pic>
        <p:nvPicPr>
          <p:cNvPr id="11" name="Image 0" descr="/home/claude/imgs/image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54467"/>
            <a:ext cx="3739896" cy="421891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74420" y="1408176"/>
            <a:ext cx="2743200" cy="420624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74420" y="140817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3-1  整机多角度实拍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709160" y="1627632"/>
            <a:ext cx="365760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dash"/>
          </a:ln>
        </p:spPr>
      </p:sp>
      <p:pic>
        <p:nvPicPr>
          <p:cNvPr id="15" name="Image 1" descr="/home/claude/imgs/image1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204" y="1851660"/>
            <a:ext cx="3167512" cy="42245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166360" y="1408176"/>
            <a:ext cx="2743200" cy="420624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166360" y="140817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3-2  机械结构示意图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8686800" y="1627632"/>
            <a:ext cx="3108960" cy="4572000"/>
          </a:xfrm>
          <a:prstGeom prst="roundRect">
            <a:avLst>
              <a:gd name="adj" fmla="val 4118"/>
            </a:avLst>
          </a:prstGeom>
          <a:solidFill>
            <a:srgbClr val="FDEBDC"/>
          </a:solidFill>
          <a:ln w="28575">
            <a:solidFill>
              <a:srgbClr val="E8935B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9006840" y="1426464"/>
            <a:ext cx="2468880" cy="420624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9006840" y="142646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机械要点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8851392" y="1975104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2" name="Text 18"/>
          <p:cNvSpPr/>
          <p:nvPr/>
        </p:nvSpPr>
        <p:spPr>
          <a:xfrm>
            <a:off x="8961120" y="202082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🏗️ </a:t>
            </a:r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双层金属板结构</a:t>
            </a:r>
            <a:endParaRPr lang="en-US" sz="14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下层电机电池+双板堆叠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8851392" y="2816352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4" name="Text 20"/>
          <p:cNvSpPr/>
          <p:nvPr/>
        </p:nvSpPr>
        <p:spPr>
          <a:xfrm>
            <a:off x="8961120" y="28620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🛰️ </a:t>
            </a:r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雷达居中顶置</a:t>
            </a:r>
            <a:endParaRPr lang="en-US" sz="14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360° 扫描视野零遮挡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8851392" y="365760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6" name="Text 22"/>
          <p:cNvSpPr/>
          <p:nvPr/>
        </p:nvSpPr>
        <p:spPr>
          <a:xfrm>
            <a:off x="8961120" y="3703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📷 </a:t>
            </a:r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侧前方俯视相机</a:t>
            </a:r>
            <a:endParaRPr lang="en-US" sz="14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ROI：宽0–65% 高35–98%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8851392" y="4498848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8" name="Text 24"/>
          <p:cNvSpPr/>
          <p:nvPr/>
        </p:nvSpPr>
        <p:spPr>
          <a:xfrm>
            <a:off x="8961120" y="45445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</a:t>
            </a:r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四轮对称差速</a:t>
            </a:r>
            <a:endParaRPr lang="en-US" sz="14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原地转向 · 重心低平稳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8851392" y="5340096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30" name="Text 26"/>
          <p:cNvSpPr/>
          <p:nvPr/>
        </p:nvSpPr>
        <p:spPr>
          <a:xfrm>
            <a:off x="8961120" y="538581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🎬 </a:t>
            </a:r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两条部署要领</a:t>
            </a:r>
            <a:endParaRPr lang="en-US" sz="14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线缆平行摆放·首帧见线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场地测试：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起始 ➜ 弯道修正 ➜ 持续跟踪</a:t>
            </a:r>
            <a:pPr indent="0" marL="0">
              <a:buNone/>
            </a:pPr>
            <a:r>
              <a:rPr lang="en-US" sz="29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，全程无人工干预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4A8BC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8B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3.2.1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27632"/>
            <a:ext cx="5486400" cy="3520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dash"/>
          </a:ln>
        </p:spPr>
      </p:sp>
      <p:pic>
        <p:nvPicPr>
          <p:cNvPr id="11" name="Image 0" descr="/home/claude/imgs/image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85807"/>
            <a:ext cx="5248656" cy="310467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234440" y="1408176"/>
            <a:ext cx="3931920" cy="420624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234440" y="140817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3-3  循线巡检运行序列帧（第一轮）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309360" y="1627632"/>
            <a:ext cx="5486400" cy="3520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dash"/>
          </a:ln>
        </p:spPr>
      </p:sp>
      <p:pic>
        <p:nvPicPr>
          <p:cNvPr id="15" name="Image 1" descr="/home/claude/imgs/image2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885807"/>
            <a:ext cx="5248656" cy="310467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086600" y="1408176"/>
            <a:ext cx="3931920" cy="420624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086600" y="140817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3-4  第二轮场地测试运行序列帧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5888736" y="3200400"/>
            <a:ext cx="457200" cy="411480"/>
          </a:xfrm>
          <a:prstGeom prst="rightArrow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5440680"/>
            <a:ext cx="274320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0" name="Text 16"/>
          <p:cNvSpPr/>
          <p:nvPr/>
        </p:nvSpPr>
        <p:spPr>
          <a:xfrm>
            <a:off x="512064" y="544068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🎯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1005840" y="5440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首帧捕获即贴线行驶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起点自动进入 TRACK 状态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3346704" y="5440680"/>
            <a:ext cx="274320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3" name="Text 19"/>
          <p:cNvSpPr/>
          <p:nvPr/>
        </p:nvSpPr>
        <p:spPr>
          <a:xfrm>
            <a:off x="3401568" y="544068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🌀</a:t>
            </a:r>
            <a:endParaRPr lang="en-US" sz="2100" dirty="0"/>
          </a:p>
        </p:txBody>
      </p:sp>
      <p:sp>
        <p:nvSpPr>
          <p:cNvPr id="24" name="Text 20"/>
          <p:cNvSpPr/>
          <p:nvPr/>
        </p:nvSpPr>
        <p:spPr>
          <a:xfrm>
            <a:off x="3895344" y="5440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弯折处连续修正航向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冲突仲裁消除斜线抖动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236208" y="5440680"/>
            <a:ext cx="274320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26" name="Text 22"/>
          <p:cNvSpPr/>
          <p:nvPr/>
        </p:nvSpPr>
        <p:spPr>
          <a:xfrm>
            <a:off x="6291072" y="544068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🖐️</a:t>
            </a:r>
            <a:endParaRPr lang="en-US" sz="2100" dirty="0"/>
          </a:p>
        </p:txBody>
      </p:sp>
      <p:sp>
        <p:nvSpPr>
          <p:cNvPr id="27" name="Text 23"/>
          <p:cNvSpPr/>
          <p:nvPr/>
        </p:nvSpPr>
        <p:spPr>
          <a:xfrm>
            <a:off x="6784848" y="5440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全程无人工干预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每段取始/中/末三个时刻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9125712" y="5440680"/>
            <a:ext cx="274320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8575">
            <a:solidFill>
              <a:srgbClr val="D98880"/>
            </a:solidFill>
            <a:prstDash val="sysDash"/>
          </a:ln>
        </p:spPr>
      </p:sp>
      <p:sp>
        <p:nvSpPr>
          <p:cNvPr id="29" name="Text 25"/>
          <p:cNvSpPr/>
          <p:nvPr/>
        </p:nvSpPr>
        <p:spPr>
          <a:xfrm>
            <a:off x="9180576" y="544068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🏁</a:t>
            </a:r>
            <a:endParaRPr lang="en-US" sz="2100" dirty="0"/>
          </a:p>
        </p:txBody>
      </p:sp>
      <p:sp>
        <p:nvSpPr>
          <p:cNvPr id="30" name="Text 26"/>
          <p:cNvSpPr/>
          <p:nvPr/>
        </p:nvSpPr>
        <p:spPr>
          <a:xfrm>
            <a:off x="9674352" y="5440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线缆终点自动停车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LOST_LONG 零速保护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电路成果：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供电母线 + 三条外设链路</a:t>
            </a:r>
            <a:pPr indent="0" marL="0">
              <a:buNone/>
            </a:pPr>
            <a:r>
              <a:rPr lang="en-US" sz="29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，上电即用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C0392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3.2.2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27632"/>
            <a:ext cx="6675120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28575">
            <a:solidFill>
              <a:srgbClr val="D98880"/>
            </a:solidFill>
            <a:prstDash val="dash"/>
          </a:ln>
        </p:spPr>
      </p:sp>
      <p:pic>
        <p:nvPicPr>
          <p:cNvPr id="11" name="Image 0" descr="/home/claude/imgs/image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362" y="1851660"/>
            <a:ext cx="6370796" cy="358444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874520" y="1408176"/>
            <a:ext cx="3840480" cy="420624"/>
          </a:xfrm>
          <a:prstGeom prst="roundRect">
            <a:avLst>
              <a:gd name="adj" fmla="val 45455"/>
            </a:avLst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874520" y="140817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3-5a  整机电路连接框架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406640" y="1627632"/>
            <a:ext cx="4389120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dash"/>
          </a:ln>
        </p:spPr>
      </p:sp>
      <p:pic>
        <p:nvPicPr>
          <p:cNvPr id="15" name="Image 1" descr="/home/claude/imgs/image2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76" y="1851660"/>
            <a:ext cx="3584448" cy="358444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46720" y="1408176"/>
            <a:ext cx="3108960" cy="420624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046720" y="140817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3-5b  主控板电路图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457200" y="5724144"/>
            <a:ext cx="2743200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28575">
            <a:solidFill>
              <a:srgbClr val="D98880"/>
            </a:solidFill>
            <a:prstDash val="sysDash"/>
          </a:ln>
        </p:spPr>
      </p:sp>
      <p:sp>
        <p:nvSpPr>
          <p:cNvPr id="19" name="Text 15"/>
          <p:cNvSpPr/>
          <p:nvPr/>
        </p:nvSpPr>
        <p:spPr>
          <a:xfrm>
            <a:off x="512064" y="5724144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🔋</a:t>
            </a:r>
            <a:endParaRPr lang="en-US" sz="2100" dirty="0"/>
          </a:p>
        </p:txBody>
      </p:sp>
      <p:sp>
        <p:nvSpPr>
          <p:cNvPr id="20" name="Text 16"/>
          <p:cNvSpPr/>
          <p:nvPr/>
        </p:nvSpPr>
        <p:spPr>
          <a:xfrm>
            <a:off x="1005840" y="5724144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供电一体化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电池经 C30D 分电机母线+逻辑电源，Type-C 直供 RDK X5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3346704" y="5724144"/>
            <a:ext cx="2743200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22" name="Text 18"/>
          <p:cNvSpPr/>
          <p:nvPr/>
        </p:nvSpPr>
        <p:spPr>
          <a:xfrm>
            <a:off x="3401568" y="5724144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🔗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3895344" y="5724144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三条外设链路不漂移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xun_controller · xun_lidar · ttyS1 均 udev 固定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236208" y="5724144"/>
            <a:ext cx="2743200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25" name="Text 21"/>
          <p:cNvSpPr/>
          <p:nvPr/>
        </p:nvSpPr>
        <p:spPr>
          <a:xfrm>
            <a:off x="6291072" y="5724144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📡</a:t>
            </a:r>
            <a:endParaRPr lang="en-US" sz="2100" dirty="0"/>
          </a:p>
        </p:txBody>
      </p:sp>
      <p:sp>
        <p:nvSpPr>
          <p:cNvPr id="26" name="Text 22"/>
          <p:cNvSpPr/>
          <p:nvPr/>
        </p:nvSpPr>
        <p:spPr>
          <a:xfrm>
            <a:off x="6784848" y="5724144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底盘状态全上报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里程计·IMU·电压·充电标志·六路超声波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9125712" y="5724144"/>
            <a:ext cx="2743200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sysDash"/>
          </a:ln>
        </p:spPr>
      </p:sp>
      <p:sp>
        <p:nvSpPr>
          <p:cNvPr id="28" name="Text 24"/>
          <p:cNvSpPr/>
          <p:nvPr/>
        </p:nvSpPr>
        <p:spPr>
          <a:xfrm>
            <a:off x="9180576" y="5724144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🧷</a:t>
            </a:r>
            <a:endParaRPr lang="en-US" sz="2100" dirty="0"/>
          </a:p>
        </p:txBody>
      </p:sp>
      <p:sp>
        <p:nvSpPr>
          <p:cNvPr id="29" name="Text 25"/>
          <p:cNvSpPr/>
          <p:nvPr/>
        </p:nvSpPr>
        <p:spPr>
          <a:xfrm>
            <a:off x="9674352" y="5724144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防呆接插件</a:t>
            </a:r>
            <a:endParaRPr lang="en-US" sz="12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插反风险受控 · 充电口直充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🔎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软件成果：</a:t>
            </a:r>
            <a:pPr indent="0" marL="0">
              <a:buNone/>
            </a:pPr>
            <a:r>
              <a:rPr lang="en-US" sz="29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调试画面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让每次异常有据可查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7B5EA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3.2.3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11320272" cy="230428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8575">
            <a:solidFill>
              <a:srgbClr val="A98FCB"/>
            </a:solidFill>
            <a:prstDash val="dash"/>
          </a:ln>
        </p:spPr>
      </p:sp>
      <p:pic>
        <p:nvPicPr>
          <p:cNvPr id="11" name="Image 0" descr="/home/claude/imgs/image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8312" y="1796796"/>
            <a:ext cx="7118048" cy="195681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191256" y="1353312"/>
            <a:ext cx="5852160" cy="420624"/>
          </a:xfrm>
          <a:prstGeom prst="roundRect">
            <a:avLst>
              <a:gd name="adj" fmla="val 45455"/>
            </a:avLst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191256" y="1353312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3-7  V3 巡线调试画面序列（/line_detection/debug_image）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02920" y="3931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巡线调试：</a:t>
            </a:r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框、三带边界、拟合线与 lateral/heading_error、valid_bands、lost_reason 实时叠加 —— 参数标定的直接依据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4526280"/>
            <a:ext cx="11320272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dash"/>
          </a:ln>
        </p:spPr>
      </p:sp>
      <p:pic>
        <p:nvPicPr>
          <p:cNvPr id="16" name="Image 1" descr="/home/claude/imgs/image2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721" y="4750308"/>
            <a:ext cx="3267230" cy="12801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557016" y="4306824"/>
            <a:ext cx="5120640" cy="420624"/>
          </a:xfrm>
          <a:prstGeom prst="roundRect">
            <a:avLst>
              <a:gd name="adj" fmla="val 45455"/>
            </a:avLst>
          </a:prstGeom>
          <a:solidFill>
            <a:srgbClr val="4A8BC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557016" y="4306824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3-8  缺陷检测调试画面序列（/cable/debug_image）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502920" y="61996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缺陷调试：</a:t>
            </a:r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标题栏实时显示单帧耗时 det=9.1–14.9 ms · max_fps=6.0 · line=OK，行进中持续扫描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0E8A7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🗺️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在线建图成果：</a:t>
            </a:r>
            <a:pPr indent="0" marL="0">
              <a:buNone/>
            </a:pPr>
            <a:r>
              <a:rPr lang="en-US" sz="290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 ➜ 扩展 ➜ 回环闭合</a:t>
            </a:r>
            <a:pPr indent="0" marL="0">
              <a:buNone/>
            </a:pPr>
            <a:r>
              <a:rPr lang="en-US" sz="29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，边界锐利无重影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0E8A7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3.2.3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11320272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8575">
            <a:solidFill>
              <a:srgbClr val="6FBFB6"/>
            </a:solidFill>
            <a:prstDash val="dash"/>
          </a:ln>
        </p:spPr>
      </p:sp>
      <p:pic>
        <p:nvPicPr>
          <p:cNvPr id="11" name="Image 0" descr="/home/claude/imgs/image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991594"/>
            <a:ext cx="11082528" cy="251819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465576" y="1472184"/>
            <a:ext cx="5303520" cy="420624"/>
          </a:xfrm>
          <a:prstGeom prst="roundRect">
            <a:avLst>
              <a:gd name="adj" fmla="val 45455"/>
            </a:avLst>
          </a:prstGeom>
          <a:solidFill>
            <a:srgbClr val="0E8A7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65576" y="1472184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3-11  RViz2 在线建图过程序列（Cartographer）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57200" y="4937760"/>
            <a:ext cx="35661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7FA8D4"/>
            </a:solidFill>
            <a:prstDash val="sysDash"/>
          </a:ln>
        </p:spPr>
      </p:sp>
      <p:sp>
        <p:nvSpPr>
          <p:cNvPr id="15" name="Text 12"/>
          <p:cNvSpPr/>
          <p:nvPr/>
        </p:nvSpPr>
        <p:spPr>
          <a:xfrm>
            <a:off x="603504" y="501091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1️⃣ </a:t>
            </a:r>
            <a:pPr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初始局部轮廓</a:t>
            </a:r>
            <a:endParaRPr lang="en-US" sz="200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CSM 粗配 + Ceres 精配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041648" y="5349240"/>
            <a:ext cx="274320" cy="256032"/>
          </a:xfrm>
          <a:prstGeom prst="rightArrow">
            <a:avLst/>
          </a:prstGeom>
          <a:solidFill>
            <a:srgbClr val="0E8A7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34256" y="4937760"/>
            <a:ext cx="35661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18" name="Text 15"/>
          <p:cNvSpPr/>
          <p:nvPr/>
        </p:nvSpPr>
        <p:spPr>
          <a:xfrm>
            <a:off x="4480560" y="501091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2️⃣ </a:t>
            </a:r>
            <a:pPr indent="0" marL="0">
              <a:buNone/>
            </a:pPr>
            <a:r>
              <a:rPr lang="en-US" sz="16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子图持续扩展</a:t>
            </a:r>
            <a:endParaRPr lang="en-US" sz="200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 帧/子图 · 0.05m/0.2° 插入节点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7918704" y="5349240"/>
            <a:ext cx="274320" cy="256032"/>
          </a:xfrm>
          <a:prstGeom prst="rightArrow">
            <a:avLst/>
          </a:prstGeom>
          <a:solidFill>
            <a:srgbClr val="0E8A7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11312" y="4937760"/>
            <a:ext cx="35661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21" name="Text 18"/>
          <p:cNvSpPr/>
          <p:nvPr/>
        </p:nvSpPr>
        <p:spPr>
          <a:xfrm>
            <a:off x="8357616" y="501091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3️⃣ </a:t>
            </a:r>
            <a:pPr indent="0" marL="0">
              <a:buNone/>
            </a:pPr>
            <a:r>
              <a:rPr lang="en-US" sz="16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回环闭合成图</a:t>
            </a:r>
            <a:endParaRPr lang="en-US" sz="200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分支定界搜索 · 全节点位姿回拉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457200" y="6089904"/>
            <a:ext cx="11320272" cy="347472"/>
          </a:xfrm>
          <a:prstGeom prst="roundRect">
            <a:avLst>
              <a:gd name="adj" fmla="val 36842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23" name="Text 20"/>
          <p:cNvSpPr/>
          <p:nvPr/>
        </p:nvSpPr>
        <p:spPr>
          <a:xfrm>
            <a:off x="731520" y="608990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/map、TF 与轨迹在 RViz2 同步更新，验证融合里程计先验与回环优化的有效性；建图产物构成 Nav2 定点导航接口基础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功能测试汇总：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项测试 </a:t>
            </a:r>
            <a:pPr indent="0" marL="0">
              <a:buNone/>
            </a:pPr>
            <a:r>
              <a:rPr lang="en-US" sz="29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全部通过 ✅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5BA85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A8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3.3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11320272" cy="4160520"/>
          </a:xfrm>
          <a:prstGeom prst="roundRect">
            <a:avLst>
              <a:gd name="adj" fmla="val 3077"/>
            </a:avLst>
          </a:prstGeom>
          <a:solidFill>
            <a:srgbClr val="EAF5EA"/>
          </a:solidFill>
          <a:ln w="28575">
            <a:solidFill>
              <a:srgbClr val="8CC08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206240" y="1353312"/>
            <a:ext cx="3840480" cy="457200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06240" y="13533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表 3-3  功能测试结果汇总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19568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14" name="Text 12"/>
          <p:cNvSpPr/>
          <p:nvPr/>
        </p:nvSpPr>
        <p:spPr>
          <a:xfrm>
            <a:off x="740664" y="20299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🛤️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71016" y="20025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自主循线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直线/弯折连续行驶，无蛇形振荡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43400" y="19568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17" name="Text 15"/>
          <p:cNvSpPr/>
          <p:nvPr/>
        </p:nvSpPr>
        <p:spPr>
          <a:xfrm>
            <a:off x="4398264" y="20299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28616" y="20025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非对称转向补偿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左右修正力一致（×1.60 增益）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01000" y="19568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20" name="Text 18"/>
          <p:cNvSpPr/>
          <p:nvPr/>
        </p:nvSpPr>
        <p:spPr>
          <a:xfrm>
            <a:off x="8055864" y="20299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586216" y="20025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短时丢线恢复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&lt;0.25s 记忆转向自恢复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5800" y="28712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23" name="Text 21"/>
          <p:cNvSpPr/>
          <p:nvPr/>
        </p:nvSpPr>
        <p:spPr>
          <a:xfrm>
            <a:off x="740664" y="29443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🛑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71016" y="29169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长时丢线保护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≥0.25s 立即零速停车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343400" y="28712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26" name="Text 24"/>
          <p:cNvSpPr/>
          <p:nvPr/>
        </p:nvSpPr>
        <p:spPr>
          <a:xfrm>
            <a:off x="4398264" y="29443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928616" y="29169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缺陷检测告警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break 稳定报警+语音播报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001000" y="28712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29" name="Text 27"/>
          <p:cNvSpPr/>
          <p:nvPr/>
        </p:nvSpPr>
        <p:spPr>
          <a:xfrm>
            <a:off x="8055864" y="29443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586216" y="29169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端侧推理实时性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单帧 9–15 ms 双模型并行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85800" y="37856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32" name="Text 30"/>
          <p:cNvSpPr/>
          <p:nvPr/>
        </p:nvSpPr>
        <p:spPr>
          <a:xfrm>
            <a:off x="740664" y="38587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⚗️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271016" y="38313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EKF 融合定位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Hz 平滑，转弯无打滑跳变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343400" y="37856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35" name="Text 33"/>
          <p:cNvSpPr/>
          <p:nvPr/>
        </p:nvSpPr>
        <p:spPr>
          <a:xfrm>
            <a:off x="4398264" y="38587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928616" y="38313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SLAM 建图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回环闭合，边界锐利无重影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8001000" y="37856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38" name="Text 36"/>
          <p:cNvSpPr/>
          <p:nvPr/>
        </p:nvSpPr>
        <p:spPr>
          <a:xfrm>
            <a:off x="8055864" y="38587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586216" y="38313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远程监控启停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8080 端口一键启停整套系统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85800" y="47000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41" name="Text 39"/>
          <p:cNvSpPr/>
          <p:nvPr/>
        </p:nvSpPr>
        <p:spPr>
          <a:xfrm>
            <a:off x="740664" y="47731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271016" y="47457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95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数据留存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损伤/影像/位姿自动记录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4343400" y="47000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44" name="Text 42"/>
          <p:cNvSpPr/>
          <p:nvPr/>
        </p:nvSpPr>
        <p:spPr>
          <a:xfrm>
            <a:off x="4398264" y="47731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4928616" y="47457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上位机适配易用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与树莓派4B 即插互换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8001000" y="4700016"/>
            <a:ext cx="3456432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28575">
            <a:solidFill>
              <a:srgbClr val="8CC08C"/>
            </a:solidFill>
            <a:prstDash val="sysDash"/>
          </a:ln>
        </p:spPr>
      </p:sp>
      <p:sp>
        <p:nvSpPr>
          <p:cNvPr id="47" name="Text 45"/>
          <p:cNvSpPr/>
          <p:nvPr/>
        </p:nvSpPr>
        <p:spPr>
          <a:xfrm>
            <a:off x="8055864" y="47731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🎛️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8586216" y="4745736"/>
            <a:ext cx="2798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现场适配便捷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launch 参数热调无需改代码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457200" y="5833872"/>
            <a:ext cx="2743200" cy="585216"/>
          </a:xfrm>
          <a:prstGeom prst="roundRect">
            <a:avLst>
              <a:gd name="adj" fmla="val 21875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50" name="Text 48"/>
          <p:cNvSpPr/>
          <p:nvPr/>
        </p:nvSpPr>
        <p:spPr>
          <a:xfrm>
            <a:off x="457200" y="583387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7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0.030 m/s  </a:t>
            </a:r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巡线速度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3346704" y="5833872"/>
            <a:ext cx="2743200" cy="585216"/>
          </a:xfrm>
          <a:prstGeom prst="roundRect">
            <a:avLst>
              <a:gd name="adj" fmla="val 21875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52" name="Text 50"/>
          <p:cNvSpPr/>
          <p:nvPr/>
        </p:nvSpPr>
        <p:spPr>
          <a:xfrm>
            <a:off x="3346704" y="583387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0.39→回中  </a:t>
            </a:r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偏移工况门限实测</a:t>
            </a:r>
            <a:endParaRPr lang="en-US" sz="1700" dirty="0"/>
          </a:p>
        </p:txBody>
      </p:sp>
      <p:sp>
        <p:nvSpPr>
          <p:cNvPr id="53" name="Shape 51"/>
          <p:cNvSpPr/>
          <p:nvPr/>
        </p:nvSpPr>
        <p:spPr>
          <a:xfrm>
            <a:off x="6236208" y="5833872"/>
            <a:ext cx="2743200" cy="585216"/>
          </a:xfrm>
          <a:prstGeom prst="roundRect">
            <a:avLst>
              <a:gd name="adj" fmla="val 21875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54" name="Text 52"/>
          <p:cNvSpPr/>
          <p:nvPr/>
        </p:nvSpPr>
        <p:spPr>
          <a:xfrm>
            <a:off x="6236208" y="583387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9–15 ms  </a:t>
            </a:r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 字段读数</a:t>
            </a:r>
            <a:endParaRPr lang="en-US" sz="1700" dirty="0"/>
          </a:p>
        </p:txBody>
      </p:sp>
      <p:sp>
        <p:nvSpPr>
          <p:cNvPr id="55" name="Shape 53"/>
          <p:cNvSpPr/>
          <p:nvPr/>
        </p:nvSpPr>
        <p:spPr>
          <a:xfrm>
            <a:off x="9125712" y="5833872"/>
            <a:ext cx="2743200" cy="585216"/>
          </a:xfrm>
          <a:prstGeom prst="roundRect">
            <a:avLst>
              <a:gd name="adj" fmla="val 21875"/>
            </a:avLst>
          </a:prstGeom>
          <a:solidFill>
            <a:srgbClr val="FCF4DC"/>
          </a:solidFill>
          <a:ln w="28575">
            <a:solidFill>
              <a:srgbClr val="E8935B"/>
            </a:solidFill>
            <a:prstDash val="sysDash"/>
          </a:ln>
        </p:spPr>
      </p:sp>
      <p:sp>
        <p:nvSpPr>
          <p:cNvPr id="56" name="Text 54"/>
          <p:cNvSpPr/>
          <p:nvPr/>
        </p:nvSpPr>
        <p:spPr>
          <a:xfrm>
            <a:off x="9125712" y="583387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fps 限帧  </a:t>
            </a:r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余量充足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658368" cy="658368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1148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274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总结与展望：</a:t>
            </a:r>
            <a:pPr indent="0" marL="0">
              <a:buNone/>
            </a:pPr>
            <a:r>
              <a:rPr lang="en-US" sz="290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</a:t>
            </a:r>
            <a:pPr indent="0" marL="0">
              <a:buNone/>
            </a:pPr>
            <a:r>
              <a:rPr lang="en-US" sz="2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indent="0" marL="0">
              <a:buNone/>
            </a:pPr>
            <a:r>
              <a:rPr lang="en-US" sz="29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</a:t>
            </a:r>
            <a:pPr indent="0" marL="0">
              <a:buNone/>
            </a:pPr>
            <a:r>
              <a:rPr lang="en-US" sz="2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indent="0" marL="0">
              <a:buNone/>
            </a:pPr>
            <a:r>
              <a:rPr lang="en-US" sz="29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可推广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905695" y="38404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8762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905695" y="384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总结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indent="0" marL="0"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RDK X5 的输电线缆智能巡检机器人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78463" y="6437376"/>
            <a:ext cx="329184" cy="329184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78463" y="6428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5623560" cy="3657600"/>
          </a:xfrm>
          <a:prstGeom prst="roundRect">
            <a:avLst>
              <a:gd name="adj" fmla="val 3500"/>
            </a:avLst>
          </a:prstGeom>
          <a:solidFill>
            <a:srgbClr val="EAF5EA"/>
          </a:solidFill>
          <a:ln w="28575">
            <a:solidFill>
              <a:srgbClr val="8CC08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234440" y="1371600"/>
            <a:ext cx="3931920" cy="457200"/>
          </a:xfrm>
          <a:prstGeom prst="roundRect">
            <a:avLst>
              <a:gd name="adj" fmla="val 45455"/>
            </a:avLst>
          </a:prstGeom>
          <a:solidFill>
            <a:srgbClr val="5BA85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3444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🧩 六大可扩展方向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" y="1975104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🧭  </a:t>
            </a:r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Nav2 自主导航：建图—定点—循线混合巡检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" y="2510028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🔌  </a:t>
            </a:r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自动回充：低电量自主回桩（充电话题已上报）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" y="30449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🏷️  </a:t>
            </a:r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缺陷类别扩展：复用量化流水线快速上新模型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" y="3579876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☁️  </a:t>
            </a:r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云端接入：MQTT 多机集中监控 + 工单推送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" y="411480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🛰️  </a:t>
            </a:r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避障增强：六路超声波 ⊕ 雷达点云动态绕障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" y="4649724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🦾  </a:t>
            </a:r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机构扩展：云台相机 / 轻型机械臂多角度复检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1572768"/>
            <a:ext cx="5513832" cy="3657600"/>
          </a:xfrm>
          <a:prstGeom prst="roundRect">
            <a:avLst>
              <a:gd name="adj" fmla="val 3500"/>
            </a:avLst>
          </a:prstGeom>
          <a:solidFill>
            <a:srgbClr val="FDEBDC"/>
          </a:solidFill>
          <a:ln w="28575">
            <a:solidFill>
              <a:srgbClr val="E8935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086600" y="1371600"/>
            <a:ext cx="3840480" cy="457200"/>
          </a:xfrm>
          <a:prstGeom prst="roundRect">
            <a:avLst>
              <a:gd name="adj" fmla="val 45455"/>
            </a:avLst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888888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86600" y="1371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💎 工程心得与核心价值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10528" y="1975104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⚖️  </a:t>
            </a:r>
            <a:pPr indent="0" marL="0">
              <a:buNone/>
            </a:pPr>
            <a:r>
              <a:rPr lang="en-US" sz="1350" b="1" dirty="0">
                <a:solidFill>
                  <a:srgbClr val="C75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端侧部署是模型能力与工程约束的平衡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10528" y="251002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🔬  </a:t>
            </a:r>
            <a:pPr indent="0" marL="0">
              <a:buNone/>
            </a:pPr>
            <a:r>
              <a:rPr lang="en-US" sz="13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控制问题往往藏在物理细节里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10528" y="3044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🪄  </a:t>
            </a:r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RDK X5 与树莓派同规格即插即用，极致易用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10528" y="3579876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👁️  </a:t>
            </a:r>
            <a:pPr indent="0" marL="0">
              <a:buNone/>
            </a:pPr>
            <a:r>
              <a:rPr lang="en-US" sz="1350" b="1" dirty="0">
                <a:solidFill>
                  <a:srgbClr val="0E8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可视化是联调效率的倍增器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10528" y="411480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📏  </a:t>
            </a:r>
            <a:pPr indent="0" marL="0">
              <a:buNone/>
            </a:pPr>
            <a:r>
              <a:rPr lang="en-US" sz="1350" b="1" dirty="0">
                <a:solidFill>
                  <a:srgbClr val="7B5E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工程严谨性来自流程：校验·哈希·版本注释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10528" y="4649724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🤝  </a:t>
            </a:r>
            <a:pPr indent="0" marL="0">
              <a:buNone/>
            </a:pPr>
            <a:r>
              <a:rPr lang="en-US" sz="1350" b="1" dirty="0">
                <a:solidFill>
                  <a:srgbClr val="3D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先定契约再写实现：接口冻结支撑并行开发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11480" y="5440680"/>
            <a:ext cx="11365992" cy="1005840"/>
          </a:xfrm>
          <a:prstGeom prst="roundRect">
            <a:avLst>
              <a:gd name="adj" fmla="val 12727"/>
            </a:avLst>
          </a:prstGeom>
          <a:solidFill>
            <a:srgbClr val="E9F1FA"/>
          </a:solidFill>
          <a:ln w="28575">
            <a:solidFill>
              <a:srgbClr val="7FA8D4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40080" y="544068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</a:t>
            </a:r>
            <a:pPr algn="ctr" indent="0" marL="0">
              <a:buNone/>
            </a:pPr>
            <a:r>
              <a:rPr lang="en-US" sz="2400" b="1" dirty="0">
                <a:solidFill>
                  <a:srgbClr val="E87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RDK X5 · 极致易用的机器人开发平台   </a:t>
            </a:r>
            <a:pPr algn="ctr" indent="0" marL="0">
              <a:buNone/>
            </a:pPr>
            <a:r>
              <a:rPr lang="en-US" sz="26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谢谢观看！</a:t>
            </a:r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🎉⚡🛰️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RDK X5 的输电线缆智能巡检机器人</dc:title>
  <dc:subject>PptxGenJS Presentation</dc:subject>
  <dc:creator>PptxGenJS</dc:creator>
  <cp:lastModifiedBy>PptxGenJS</cp:lastModifiedBy>
  <cp:revision>1</cp:revision>
  <dcterms:created xsi:type="dcterms:W3CDTF">2026-07-07T09:51:22Z</dcterms:created>
  <dcterms:modified xsi:type="dcterms:W3CDTF">2026-07-07T09:51:22Z</dcterms:modified>
</cp:coreProperties>
</file>